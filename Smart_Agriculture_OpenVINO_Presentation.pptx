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Calibri"/>
              </a:defRPr>
            </a:pPr>
            <a:r>
              <a:rPr sz="1400" b="0" i="0" u="none" strike="noStrike">
                <a:solidFill>
                  <a:srgbClr val="1F2933"/>
                </a:solidFill>
                <a:latin typeface="Calibri"/>
              </a:rPr>
              <a:t>Average inference latency (ms), 102 images</a:t>
            </a:r>
          </a:p>
        </c:rich>
      </c:tx>
      <c:layout/>
      <c:overlay val="0"/>
    </c:title>
    <c:autoTitleDeleted val="0"/>
    <c:plotArea>
      <c:layout/>
      <c:barChart>
        <c:barDir val="col"/>
        <c:grouping val="clustered"/>
        <c:varyColors val="0"/>
        <c:ser>
          <c:idx val="0"/>
          <c:order val="0"/>
          <c:tx>
            <c:strRef>
              <c:f>Sheet1!$B$1</c:f>
              <c:strCache>
                <c:ptCount val="1"/>
                <c:pt idx="0">
                  <c:v>Average latency (ms)</c:v>
                </c:pt>
              </c:strCache>
            </c:strRef>
          </c:tx>
          <c:spPr>
            <a:solidFill>
              <a:srgbClr val="14325C"/>
            </a:solidFill>
            <a:effectLst/>
          </c:spPr>
          <c:invertIfNegative val="0"/>
          <c:dLbls>
            <c:numFmt formatCode="0.00" sourceLinked="0"/>
            <c:txPr>
              <a:bodyPr/>
              <a:lstStyle/>
              <a:p>
                <a:pPr>
                  <a:defRPr b="0" i="0" strike="noStrike" sz="1400" u="none">
                    <a:solidFill>
                      <a:srgbClr val="1F2933"/>
                    </a:solidFill>
                    <a:latin typeface="Calibri"/>
                  </a:defRPr>
                </a:pPr>
              </a:p>
            </c:txPr>
            <c:showLegendKey val="0"/>
            <c:showVal val="1"/>
            <c:showCatName val="0"/>
            <c:showSerName val="0"/>
            <c:showPercent val="0"/>
            <c:showBubbleSize val="0"/>
            <c:showLeaderLines val="0"/>
          </c:dLbls>
          <c:dPt>
            <c:idx val="0"/>
            <c:invertIfNegative val="0"/>
            <c:bubble3D val="0"/>
            <c:spPr>
              <a:solidFill>
                <a:srgbClr val="14325C"/>
              </a:solidFill>
              <a:effectLst/>
            </c:spPr>
          </c:dPt>
          <c:dPt>
            <c:idx val="1"/>
            <c:invertIfNegative val="0"/>
            <c:bubble3D val="0"/>
            <c:spPr>
              <a:solidFill>
                <a:srgbClr val="1B5E3A"/>
              </a:solidFill>
              <a:effectLst/>
            </c:spPr>
          </c:dPt>
          <c:cat>
            <c:multiLvlStrRef>
              <c:f>Sheet1!$A$2:$A$3</c:f>
              <c:multiLvlStrCache>
                <c:ptCount val="2"/>
                <c:lvl>
                  <c:pt idx="0">
                    <c:v>PyTorch CPU</c:v>
                  </c:pt>
                  <c:pt idx="1">
                    <c:v>OpenVINO CPU</c:v>
                  </c:pt>
                </c:lvl>
              </c:multiLvlStrCache>
            </c:multiLvlStrRef>
          </c:cat>
          <c:val>
            <c:numRef>
              <c:f>Sheet1!$B$2:$B$3</c:f>
              <c:numCache>
                <c:formatCode>General</c:formatCode>
                <c:ptCount val="2"/>
                <c:pt idx="0">
                  <c:v>4.3</c:v>
                </c:pt>
                <c:pt idx="1">
                  <c:v>1.61</c:v>
                </c:pt>
              </c:numCache>
            </c:numRef>
          </c:val>
        </c:ser>
        <c:dLbls>
          <c:numFmt formatCode="0.00" sourceLinked="0"/>
          <c:txPr>
            <a:bodyPr/>
            <a:lstStyle/>
            <a:p>
              <a:pPr>
                <a:defRPr b="0" i="0" strike="noStrike" sz="14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D9E0DB"/>
              </a:solidFill>
              <a:prstDash val="solid"/>
              <a:round/>
            </a:ln>
          </c:spPr>
        </c:majorGridlines>
        <c:title>
          <c:tx>
            <c:rich>
              <a:bodyPr/>
              <a:lstStyle/>
              <a:p>
                <a:pPr>
                  <a:defRPr sz="1200" b="0" i="0" u="none" strike="noStrike">
                    <a:solidFill>
                      <a:srgbClr val="5B6770"/>
                    </a:solidFill>
                    <a:latin typeface="Arial"/>
                  </a:defRPr>
                </a:pPr>
                <a:r>
                  <a:rPr sz="1200" b="0" i="0" u="none" strike="noStrike">
                    <a:solidFill>
                      <a:srgbClr val="5B6770"/>
                    </a:solidFill>
                    <a:latin typeface="Arial"/>
                  </a:rPr>
                  <a:t>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title. Say: this project builds and evaluates a lightweight tomato leaf disease classifier, converts it to OpenVINO for efficient CPU inference, wraps it in a Streamlit app, and assesses how feasible deployment on edge cameras would be. Make clear from the start that this is a working software prototype evaluated on PlantVillage images, not a field-deployed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crop disease detection matters: diseases such as early and late blight reduce tomato yield, and the earlier a grower sees symptoms the cheaper the response. Manual inspection is slow, subjective and hard to scale across large fields. Computer vision lets a model classify a leaf photograph in milliseconds. Edge computing means running that model close to the camera so predictions do not depend on a constant internet connection, which is often unreliable in farms. Say: this project explores exactly that idea on a laptop-based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system is needed that identifies tomato leaf conditions automatically, runs locally, has low latency, and can later be connected to edge cameras. Be explicit about the right-hand side: what exists today is a software prototype tested on stored images on a laptop CPU. Physical camera integration, field images and edge hardware testing are future work. This honest split is a strength in a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objectives in order; they mirror the project workflow from data to discussion of deployment. Each one has a corresponding result later in the presentation: dataset (slide 6), training (7 and 8), conversion (10), evaluation (9 and 11), benchmark (12), Streamlit (13), feasibility and limits (15 and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inference path implemented in the prototype. A leaf image is preprocessed (RGB, 224 by 224, normalisation), classified by MobileNetV3-Small running as an OpenVINO model, and the class prediction with confidence scores is shown in Streamlit. Bottom row: the training and deployment path. The model is trained in PyTorch on the dataset, saved, converted to OpenVINO IR, and executed on the CPU. The bottom-right dashed boxes mark what is proposed for future edge-camera deployment and is not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PlantVillage, filtered to three tomato classes: Early Blight, Healthy and Late Blight, giving 4,500 images with roughly an 80/20 train/test split in every class. A 15 percent validation split was taken from the training images by the training script. The classes are moderately imbalanced, which is why precision, recall and F1 are reported and not accuracy alone. Important caveat: PlantVillage images are taken under controlled conditions, typically a single leaf on a uniform background, so high accuracy here does not prove field performance. The report also notes near-duplicate leaves in both train and test sets were not ruled out. The sample images and the dataset-preparation terminal screenshot were placeholders in the report; insert them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MobileNetV3-Small is a lightweight convolutional neural network designed for mobile and edge devices, with few parameters and low compute, which suits a project aimed at edge deployment. Transfer learning means starting from weights pretrained on ImageNet and fine-tuning for three classes, which needs less data and training time. Images are resized to 224 by 224, batch size is 32, training ran for five epochs on an NVIDIA GeForce RTX 3050 Laptop GPU. Each epoch the model is trained on the training portion and measured on the 15 percent validation split; the best validation checkpoint is kept. Optimiser, learning rate and augmentation were not recorded in the report, so do not claim specific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recorded per-epoch values. Training accuracy rises steadily to 99.21 percent, but validation accuracy peaks at epoch 3 with 98.88 percent and falls to 96.84 percent by epoch 5, while validation loss rises after epoch 3. This suggests the model began to fit the training data too closely, so the epoch 3 checkpoint is the best validation model. The plot is taken from the report. The training terminal screenshot was not included as an image in the report; insert it if you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evaluation of the PyTorch model on the 908 independent test images: 98.68 percent accuracy, macro precision 98.55, macro recall 98.65, macro F1 98.60 and weighted F1 98.68 percent. That corresponds to about 896 correct predictions and 12 errors (derived from the percentages). Precision is the share of predicted positives that are correct; recall is the share of true cases that were found; F1 combines them. Accuracy alone can hide which class is confused, which is why the table is per class. The report did not supply the PyTorch confusion matrix cells, so a placeholder is shown; insert results/confusion_matrix.png.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OpenVINO is Intel's toolkit for optimising and running neural-network inference efficiently, especially on CPUs. The trained PyTorch model was converted to OpenVINO Intermediate Representation, or IR, which is a pair of files: the XML describes the network structure and the BIN stores the weights. The recorded sizes are about 0.15 MB for the XML and 5.78 MB for the BIN. During conversion a warning about torch.jit.trace under Python 3.14 appeared, but conversion completed successfully. The small screenshots below show the OpenVINO functional test with a dummy input, so its predicted class is not meaningful, and a real-image prediction of Early Blight.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908-image test-set evaluation of the converted OpenVINO model: 98.46 percent accuracy, average latency 6.63 ms, median 5.30 ms and 95th-percentile 11.23 ms. The OpenVINO accuracy is 0.22 percentage points below the PyTorch model, which equals two images; one fewer Early Blight and one fewer Healthy image were correct. The report states the cause was not established; possible contributors are numerical differences between runtimes, preprocessing differences between the evaluation scripts, or the conversion. Keep this 908-image latency separate from the 102-image benchmark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separate CPU-to-CPU benchmark on 102 selected test images. PyTorch averaged 4.30 ms per image and OpenVINO 1.61 ms, so the average-latency speed ratio is 4.30 divided by 1.61, about 2.67 times, a latency reduction of roughly 62.6 percent. Medians were 4.18 and 1.44 ms. Both reached 100 percent on this small subset, which should not be combined with the 98.46 percent full test-set result. This ratio was measured on this laptop under this procedure; do not claim the same speedup on every device. Latency depends on processor, threads, power mode and background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Streamlit is a Python framework for building web interfaces. The application runs locally at localhost:8501, lets a user upload a leaf image in JPG, JPEG or PNG, click Detect Crop Disease, and then shows the predicted class, the model confidence, the displayed inference latency and all class scores, plus a warning that the output is an AI prediction and not a confirmed diagnosis. The recorded example is Early Blight with 99.56 percent confidence and a displayed latency of 13.59 ms. That 13.59 ms comes from one application run and must not be compared with the 1.61 ms benchmark average, which was a separate measurement procedure. Late Blight showed 100.00 percent, which is a rounded value, not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what was actually used. Development and training happened on a Dell G15 laptop running Ubuntu with an NVIDIA GeForce RTX 3050 Laptop GPU used for training only. Inference benchmarks ran on the laptop CPU. The tools are PyTorch, torchvision, MobileNetV3-Small, OpenVINO, Streamlit and the PlantVillage dataset. The exact CPU model, RAM and Ubuntu release were not recorded, so latencies are specific to this laptop. The model was not tested on an ESP32, Raspberry Pi or any real agricultural camera; say this clearly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future architecture, not a completed implementation. An edge camera captures an image, local preprocessing resizes and normalises it, an OpenVINO model runs on compatible edge hardware, the classification is shown on a local display or optionally sent to a dashboard. Benefits: reduced dependence on continuous cloud connectivity and lower latency. Challenges: power and memory limits, camera placement, lighting, image quality, weather, and hardware compatibility. Because latency depends on the device, any edge hardware needs its own benchmark before conclusions are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openly; they show scientific honesty. PlantVillage images are controlled, so real-world field accuracy has not been established. Only three tomato classes are supported. A confidence score is not a guarantee of correctness. The CPU benchmark used 102 selected images. Power consumption and long-duration field performance were not measured. The OpenVINO conversion showed a Python 3.14 torch.jit.trace warning, although conversion completed successfully. The model should not be described as production-ready or field-validated.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achievements: a MobileNetV3-Small tomato classifier with 98.68 percent PyTorch test accuracy, an OpenVINO model with 98.46 percent, a 2.67 times average-latency ratio in the 102-image CPU benchmark, and an interactive Streamlit interface. Future work is what makes this deployable: real field images in varied conditions, a physical edge device, power and memory measurements, more crops and diseases, confidence thresholds with human expert review, and a real edge-camera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taken from the project report. Items marked verify must be checked before submission, including access dates for web documentation. Close by thanking the panel and inviting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OpenVINO-Powered Smart Agriculture: Crop Disease Detection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1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7955280" y="1097280"/>
            <a:ext cx="3657600" cy="3657600"/>
          </a:xfrm>
          <a:prstGeom prst="ellipse">
            <a:avLst/>
          </a:prstGeom>
          <a:solidFill>
            <a:srgbClr val="1B5E3A"/>
          </a:solidFill>
          <a:ln w="25400">
            <a:solidFill>
              <a:srgbClr val="97BC62"/>
            </a:solidFill>
            <a:prstDash val="solid"/>
          </a:ln>
        </p:spPr>
      </p:sp>
      <p:pic>
        <p:nvPicPr>
          <p:cNvPr id="4" name="Image 0" descr="Leaf icon">    </p:cNvPr>
          <p:cNvPicPr>
            <a:picLocks noChangeAspect="1"/>
          </p:cNvPicPr>
          <p:nvPr/>
        </p:nvPicPr>
        <p:blipFill>
          <a:blip r:embed="rId1"/>
          <a:stretch>
            <a:fillRect/>
          </a:stretch>
        </p:blipFill>
        <p:spPr>
          <a:xfrm>
            <a:off x="8732520" y="1783080"/>
            <a:ext cx="2103120" cy="2103120"/>
          </a:xfrm>
          <a:prstGeom prst="rect">
            <a:avLst/>
          </a:prstGeom>
        </p:spPr>
      </p:pic>
      <p:sp>
        <p:nvSpPr>
          <p:cNvPr id="5" name="Shape 1"/>
          <p:cNvSpPr/>
          <p:nvPr/>
        </p:nvSpPr>
        <p:spPr>
          <a:xfrm>
            <a:off x="8229600" y="1371600"/>
            <a:ext cx="3108960" cy="3108960"/>
          </a:xfrm>
          <a:prstGeom prst="rect">
            <a:avLst/>
          </a:prstGeom>
          <a:solidFill>
            <a:srgbClr val="0F2A1D">
              <a:alpha val="0"/>
            </a:srgbClr>
          </a:solidFill>
          <a:ln w="38100">
            <a:solidFill>
              <a:srgbClr val="FFB703"/>
            </a:solidFill>
            <a:prstDash val="dash"/>
          </a:ln>
        </p:spPr>
      </p:sp>
      <p:sp>
        <p:nvSpPr>
          <p:cNvPr id="6" name="Text 2"/>
          <p:cNvSpPr txBox="1"/>
          <p:nvPr/>
        </p:nvSpPr>
        <p:spPr>
          <a:xfrm>
            <a:off x="8229600" y="4526280"/>
            <a:ext cx="3108960" cy="365760"/>
          </a:xfrm>
          <a:prstGeom prst="rect">
            <a:avLst/>
          </a:prstGeom>
          <a:solidFill>
            <a:srgbClr val="FFB703"/>
          </a:solidFill>
          <a:ln/>
        </p:spPr>
        <p:txBody>
          <a:bodyPr wrap="square" lIns="0" tIns="0" rIns="0" bIns="0" rtlCol="0" anchor="ctr"/>
          <a:lstStyle/>
          <a:p>
            <a:pPr algn="ctr" indent="0" marL="0">
              <a:buNone/>
            </a:pPr>
            <a:r>
              <a:rPr lang="en-US" sz="1400" b="1" dirty="0">
                <a:solidFill>
                  <a:srgbClr val="0F2A1D"/>
                </a:solidFill>
              </a:rPr>
              <a:t>Late Blight 99%</a:t>
            </a:r>
            <a:endParaRPr lang="en-US" sz="1400" dirty="0"/>
          </a:p>
        </p:txBody>
      </p:sp>
      <p:sp>
        <p:nvSpPr>
          <p:cNvPr id="7" name="Text 3"/>
          <p:cNvSpPr txBox="1"/>
          <p:nvPr/>
        </p:nvSpPr>
        <p:spPr>
          <a:xfrm>
            <a:off x="640080" y="640080"/>
            <a:ext cx="6858000" cy="365760"/>
          </a:xfrm>
          <a:prstGeom prst="rect">
            <a:avLst/>
          </a:prstGeom>
          <a:noFill/>
          <a:ln/>
        </p:spPr>
        <p:txBody>
          <a:bodyPr wrap="square" lIns="0" tIns="0" rIns="0" bIns="0" rtlCol="0" anchor="t"/>
          <a:lstStyle/>
          <a:p>
            <a:pPr indent="0" marL="0">
              <a:buNone/>
            </a:pPr>
            <a:r>
              <a:rPr lang="en-US" sz="1400" b="1" dirty="0">
                <a:solidFill>
                  <a:srgbClr val="97BC62"/>
                </a:solidFill>
                <a:latin typeface="Calibri" pitchFamily="34" charset="0"/>
                <a:ea typeface="Calibri" pitchFamily="34" charset="-122"/>
                <a:cs typeface="Calibri" pitchFamily="34" charset="-120"/>
              </a:rPr>
              <a:t>FINAL-YEAR PROJECT PRESENTATION</a:t>
            </a:r>
            <a:endParaRPr lang="en-US" sz="1400" dirty="0"/>
          </a:p>
        </p:txBody>
      </p:sp>
      <p:sp>
        <p:nvSpPr>
          <p:cNvPr id="8" name="Text 4"/>
          <p:cNvSpPr txBox="1"/>
          <p:nvPr/>
        </p:nvSpPr>
        <p:spPr>
          <a:xfrm>
            <a:off x="640080" y="1188720"/>
            <a:ext cx="6949440" cy="23774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Design an OpenVINO-Powered Smart Agriculture Solution for Crop Disease Detection Using Edge Cameras and Evaluate Field Deployment Feasibility</a:t>
            </a:r>
            <a:endParaRPr lang="en-US" sz="3000" dirty="0"/>
          </a:p>
        </p:txBody>
      </p:sp>
      <p:sp>
        <p:nvSpPr>
          <p:cNvPr id="9" name="Text 5"/>
          <p:cNvSpPr txBox="1"/>
          <p:nvPr/>
        </p:nvSpPr>
        <p:spPr>
          <a:xfrm>
            <a:off x="640080" y="4206240"/>
            <a:ext cx="6949440" cy="1463040"/>
          </a:xfrm>
          <a:prstGeom prst="rect">
            <a:avLst/>
          </a:prstGeom>
          <a:noFill/>
          <a:ln/>
        </p:spPr>
        <p:txBody>
          <a:bodyPr wrap="square" lIns="0" tIns="0" rIns="0" bIns="0" rtlCol="0" anchor="t"/>
          <a:lstStyle/>
          <a:p>
            <a:pPr indent="0" marL="0">
              <a:spcAft>
                <a:spcPts val="600"/>
              </a:spcAft>
              <a:buNone/>
            </a:pPr>
            <a:r>
              <a:rPr lang="en-US" sz="1600" dirty="0">
                <a:solidFill>
                  <a:srgbClr val="DCE8DF"/>
                </a:solidFill>
                <a:latin typeface="Calibri" pitchFamily="34" charset="0"/>
                <a:ea typeface="Calibri" pitchFamily="34" charset="-122"/>
                <a:cs typeface="Calibri" pitchFamily="34" charset="-120"/>
              </a:rPr>
              <a:t>Student: K Karthik   |   Roll number: 12308818</a:t>
            </a:r>
            <a:endParaRPr lang="en-US" sz="1600" dirty="0"/>
          </a:p>
          <a:p>
            <a:pPr indent="0" marL="0">
              <a:spcAft>
                <a:spcPts val="600"/>
              </a:spcAft>
              <a:buNone/>
            </a:pPr>
            <a:r>
              <a:rPr lang="en-US" sz="1600" dirty="0">
                <a:solidFill>
                  <a:srgbClr val="DCE8DF"/>
                </a:solidFill>
                <a:latin typeface="Calibri" pitchFamily="34" charset="0"/>
                <a:ea typeface="Calibri" pitchFamily="34" charset="-122"/>
                <a:cs typeface="Calibri" pitchFamily="34" charset="-120"/>
              </a:rPr>
              <a:t>Department: [Department name]</a:t>
            </a:r>
            <a:endParaRPr lang="en-US" sz="1600" dirty="0"/>
          </a:p>
          <a:p>
            <a:pPr indent="0" marL="0">
              <a:spcAft>
                <a:spcPts val="600"/>
              </a:spcAft>
              <a:buNone/>
            </a:pPr>
            <a:r>
              <a:rPr lang="en-US" sz="1600" dirty="0">
                <a:solidFill>
                  <a:srgbClr val="DCE8DF"/>
                </a:solidFill>
                <a:latin typeface="Calibri" pitchFamily="34" charset="0"/>
                <a:ea typeface="Calibri" pitchFamily="34" charset="-122"/>
                <a:cs typeface="Calibri" pitchFamily="34" charset="-120"/>
              </a:rPr>
              <a:t>Institution: Lovely Professional University</a:t>
            </a:r>
            <a:endParaRPr lang="en-US" sz="1600" dirty="0"/>
          </a:p>
          <a:p>
            <a:pPr indent="0" marL="0">
              <a:spcAft>
                <a:spcPts val="600"/>
              </a:spcAft>
              <a:buNone/>
            </a:pPr>
            <a:r>
              <a:rPr lang="en-US" sz="1600" dirty="0">
                <a:solidFill>
                  <a:srgbClr val="DCE8DF"/>
                </a:solidFill>
                <a:latin typeface="Calibri" pitchFamily="34" charset="0"/>
                <a:ea typeface="Calibri" pitchFamily="34" charset="-122"/>
                <a:cs typeface="Calibri" pitchFamily="34" charset="-120"/>
              </a:rPr>
              <a:t>Faculty guide: Dr. Diwakar   |   Academic year: [Academic year]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Introduction</a:t>
            </a:r>
            <a:endParaRPr lang="en-US" sz="3200" dirty="0"/>
          </a:p>
        </p:txBody>
      </p:sp>
      <p:sp>
        <p:nvSpPr>
          <p:cNvPr id="4" name="Shape 1"/>
          <p:cNvSpPr/>
          <p:nvPr/>
        </p:nvSpPr>
        <p:spPr>
          <a:xfrm>
            <a:off x="548640" y="1371600"/>
            <a:ext cx="5440680" cy="2103120"/>
          </a:xfrm>
          <a:prstGeom prst="roundRect">
            <a:avLst>
              <a:gd name="adj" fmla="val 3478"/>
            </a:avLst>
          </a:prstGeom>
          <a:solidFill>
            <a:srgbClr val="F4F8F5"/>
          </a:solidFill>
          <a:ln w="12700">
            <a:solidFill>
              <a:srgbClr val="F4F8F5"/>
            </a:solidFill>
            <a:prstDash val="solid"/>
          </a:ln>
        </p:spPr>
      </p:sp>
      <p:pic>
        <p:nvPicPr>
          <p:cNvPr id="5" name="Image 0" descr="Why it matters">    </p:cNvPr>
          <p:cNvPicPr>
            <a:picLocks noChangeAspect="1"/>
          </p:cNvPicPr>
          <p:nvPr/>
        </p:nvPicPr>
        <p:blipFill>
          <a:blip r:embed="rId1"/>
          <a:stretch>
            <a:fillRect/>
          </a:stretch>
        </p:blipFill>
        <p:spPr>
          <a:xfrm>
            <a:off x="777240" y="1600200"/>
            <a:ext cx="457200" cy="457200"/>
          </a:xfrm>
          <a:prstGeom prst="rect">
            <a:avLst/>
          </a:prstGeom>
        </p:spPr>
      </p:pic>
      <p:sp>
        <p:nvSpPr>
          <p:cNvPr id="6" name="Text 2"/>
          <p:cNvSpPr txBox="1"/>
          <p:nvPr/>
        </p:nvSpPr>
        <p:spPr>
          <a:xfrm>
            <a:off x="1417320" y="1572768"/>
            <a:ext cx="4389120" cy="365760"/>
          </a:xfrm>
          <a:prstGeom prst="rect">
            <a:avLst/>
          </a:prstGeom>
          <a:noFill/>
          <a:ln/>
        </p:spPr>
        <p:txBody>
          <a:bodyPr wrap="square" lIns="0" tIns="0" rIns="0" bIns="0" rtlCol="0" anchor="t"/>
          <a:lstStyle/>
          <a:p>
            <a:pPr indent="0" marL="0">
              <a:buNone/>
            </a:pPr>
            <a:r>
              <a:rPr lang="en-US" sz="1800" b="1" dirty="0">
                <a:solidFill>
                  <a:srgbClr val="14325C"/>
                </a:solidFill>
                <a:latin typeface="Calibri" pitchFamily="34" charset="0"/>
                <a:ea typeface="Calibri" pitchFamily="34" charset="-122"/>
                <a:cs typeface="Calibri" pitchFamily="34" charset="-120"/>
              </a:rPr>
              <a:t>Why it matters</a:t>
            </a:r>
            <a:endParaRPr lang="en-US" sz="1800" dirty="0"/>
          </a:p>
        </p:txBody>
      </p:sp>
      <p:sp>
        <p:nvSpPr>
          <p:cNvPr id="7" name="Text 3"/>
          <p:cNvSpPr txBox="1"/>
          <p:nvPr/>
        </p:nvSpPr>
        <p:spPr>
          <a:xfrm>
            <a:off x="1417320" y="1965960"/>
            <a:ext cx="4389120" cy="13716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Blights reduce tomato yield; early recognition lowers loss and treatment cost.</a:t>
            </a:r>
            <a:endParaRPr lang="en-US" sz="1600" dirty="0"/>
          </a:p>
        </p:txBody>
      </p:sp>
      <p:sp>
        <p:nvSpPr>
          <p:cNvPr id="8" name="Shape 4"/>
          <p:cNvSpPr/>
          <p:nvPr/>
        </p:nvSpPr>
        <p:spPr>
          <a:xfrm>
            <a:off x="6172200" y="1371600"/>
            <a:ext cx="5440680" cy="2103120"/>
          </a:xfrm>
          <a:prstGeom prst="roundRect">
            <a:avLst>
              <a:gd name="adj" fmla="val 3478"/>
            </a:avLst>
          </a:prstGeom>
          <a:solidFill>
            <a:srgbClr val="F4F8F5"/>
          </a:solidFill>
          <a:ln w="12700">
            <a:solidFill>
              <a:srgbClr val="F4F8F5"/>
            </a:solidFill>
            <a:prstDash val="solid"/>
          </a:ln>
        </p:spPr>
      </p:sp>
      <p:pic>
        <p:nvPicPr>
          <p:cNvPr id="9" name="Image 1" descr="Manual inspection">    </p:cNvPr>
          <p:cNvPicPr>
            <a:picLocks noChangeAspect="1"/>
          </p:cNvPicPr>
          <p:nvPr/>
        </p:nvPicPr>
        <p:blipFill>
          <a:blip r:embed="rId2"/>
          <a:stretch>
            <a:fillRect/>
          </a:stretch>
        </p:blipFill>
        <p:spPr>
          <a:xfrm>
            <a:off x="6400800" y="1600200"/>
            <a:ext cx="457200" cy="457200"/>
          </a:xfrm>
          <a:prstGeom prst="rect">
            <a:avLst/>
          </a:prstGeom>
        </p:spPr>
      </p:pic>
      <p:sp>
        <p:nvSpPr>
          <p:cNvPr id="10" name="Text 5"/>
          <p:cNvSpPr txBox="1"/>
          <p:nvPr/>
        </p:nvSpPr>
        <p:spPr>
          <a:xfrm>
            <a:off x="7040880" y="1572768"/>
            <a:ext cx="4389120" cy="365760"/>
          </a:xfrm>
          <a:prstGeom prst="rect">
            <a:avLst/>
          </a:prstGeom>
          <a:noFill/>
          <a:ln/>
        </p:spPr>
        <p:txBody>
          <a:bodyPr wrap="square" lIns="0" tIns="0" rIns="0" bIns="0" rtlCol="0" anchor="t"/>
          <a:lstStyle/>
          <a:p>
            <a:pPr indent="0" marL="0">
              <a:buNone/>
            </a:pPr>
            <a:r>
              <a:rPr lang="en-US" sz="1800" b="1" dirty="0">
                <a:solidFill>
                  <a:srgbClr val="14325C"/>
                </a:solidFill>
                <a:latin typeface="Calibri" pitchFamily="34" charset="0"/>
                <a:ea typeface="Calibri" pitchFamily="34" charset="-122"/>
                <a:cs typeface="Calibri" pitchFamily="34" charset="-120"/>
              </a:rPr>
              <a:t>Manual inspection</a:t>
            </a:r>
            <a:endParaRPr lang="en-US" sz="1800" dirty="0"/>
          </a:p>
        </p:txBody>
      </p:sp>
      <p:sp>
        <p:nvSpPr>
          <p:cNvPr id="11" name="Text 6"/>
          <p:cNvSpPr txBox="1"/>
          <p:nvPr/>
        </p:nvSpPr>
        <p:spPr>
          <a:xfrm>
            <a:off x="7040880" y="1965960"/>
            <a:ext cx="4389120" cy="13716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Slow, subjective and hard to scale across large fields.</a:t>
            </a:r>
            <a:endParaRPr lang="en-US" sz="1600" dirty="0"/>
          </a:p>
        </p:txBody>
      </p:sp>
      <p:sp>
        <p:nvSpPr>
          <p:cNvPr id="12" name="Shape 7"/>
          <p:cNvSpPr/>
          <p:nvPr/>
        </p:nvSpPr>
        <p:spPr>
          <a:xfrm>
            <a:off x="548640" y="3749040"/>
            <a:ext cx="5440680" cy="2103120"/>
          </a:xfrm>
          <a:prstGeom prst="roundRect">
            <a:avLst>
              <a:gd name="adj" fmla="val 3478"/>
            </a:avLst>
          </a:prstGeom>
          <a:solidFill>
            <a:srgbClr val="F4F8F5"/>
          </a:solidFill>
          <a:ln w="12700">
            <a:solidFill>
              <a:srgbClr val="F4F8F5"/>
            </a:solidFill>
            <a:prstDash val="solid"/>
          </a:ln>
        </p:spPr>
      </p:sp>
      <p:pic>
        <p:nvPicPr>
          <p:cNvPr id="13" name="Image 2" descr="Computer vision">    </p:cNvPr>
          <p:cNvPicPr>
            <a:picLocks noChangeAspect="1"/>
          </p:cNvPicPr>
          <p:nvPr/>
        </p:nvPicPr>
        <p:blipFill>
          <a:blip r:embed="rId3"/>
          <a:stretch>
            <a:fillRect/>
          </a:stretch>
        </p:blipFill>
        <p:spPr>
          <a:xfrm>
            <a:off x="777240" y="3977640"/>
            <a:ext cx="457200" cy="457200"/>
          </a:xfrm>
          <a:prstGeom prst="rect">
            <a:avLst/>
          </a:prstGeom>
        </p:spPr>
      </p:pic>
      <p:sp>
        <p:nvSpPr>
          <p:cNvPr id="14" name="Text 8"/>
          <p:cNvSpPr txBox="1"/>
          <p:nvPr/>
        </p:nvSpPr>
        <p:spPr>
          <a:xfrm>
            <a:off x="1417320" y="3950208"/>
            <a:ext cx="4389120" cy="365760"/>
          </a:xfrm>
          <a:prstGeom prst="rect">
            <a:avLst/>
          </a:prstGeom>
          <a:noFill/>
          <a:ln/>
        </p:spPr>
        <p:txBody>
          <a:bodyPr wrap="square" lIns="0" tIns="0" rIns="0" bIns="0" rtlCol="0" anchor="t"/>
          <a:lstStyle/>
          <a:p>
            <a:pPr indent="0" marL="0">
              <a:buNone/>
            </a:pPr>
            <a:r>
              <a:rPr lang="en-US" sz="1800" b="1" dirty="0">
                <a:solidFill>
                  <a:srgbClr val="14325C"/>
                </a:solidFill>
                <a:latin typeface="Calibri" pitchFamily="34" charset="0"/>
                <a:ea typeface="Calibri" pitchFamily="34" charset="-122"/>
                <a:cs typeface="Calibri" pitchFamily="34" charset="-120"/>
              </a:rPr>
              <a:t>Computer vision</a:t>
            </a:r>
            <a:endParaRPr lang="en-US" sz="1800" dirty="0"/>
          </a:p>
        </p:txBody>
      </p:sp>
      <p:sp>
        <p:nvSpPr>
          <p:cNvPr id="15" name="Text 9"/>
          <p:cNvSpPr txBox="1"/>
          <p:nvPr/>
        </p:nvSpPr>
        <p:spPr>
          <a:xfrm>
            <a:off x="1417320" y="4343400"/>
            <a:ext cx="4389120" cy="13716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CNN classifiers can recognise leaf symptoms from a photograph in milliseconds.</a:t>
            </a:r>
            <a:endParaRPr lang="en-US" sz="1600" dirty="0"/>
          </a:p>
        </p:txBody>
      </p:sp>
      <p:sp>
        <p:nvSpPr>
          <p:cNvPr id="16" name="Shape 10"/>
          <p:cNvSpPr/>
          <p:nvPr/>
        </p:nvSpPr>
        <p:spPr>
          <a:xfrm>
            <a:off x="6172200" y="3749040"/>
            <a:ext cx="5440680" cy="2103120"/>
          </a:xfrm>
          <a:prstGeom prst="roundRect">
            <a:avLst>
              <a:gd name="adj" fmla="val 3478"/>
            </a:avLst>
          </a:prstGeom>
          <a:solidFill>
            <a:srgbClr val="F4F8F5"/>
          </a:solidFill>
          <a:ln w="12700">
            <a:solidFill>
              <a:srgbClr val="F4F8F5"/>
            </a:solidFill>
            <a:prstDash val="solid"/>
          </a:ln>
        </p:spPr>
      </p:sp>
      <p:pic>
        <p:nvPicPr>
          <p:cNvPr id="17" name="Image 3" descr="Why the edge">    </p:cNvPr>
          <p:cNvPicPr>
            <a:picLocks noChangeAspect="1"/>
          </p:cNvPicPr>
          <p:nvPr/>
        </p:nvPicPr>
        <p:blipFill>
          <a:blip r:embed="rId4"/>
          <a:stretch>
            <a:fillRect/>
          </a:stretch>
        </p:blipFill>
        <p:spPr>
          <a:xfrm>
            <a:off x="6400800" y="3977640"/>
            <a:ext cx="457200" cy="457200"/>
          </a:xfrm>
          <a:prstGeom prst="rect">
            <a:avLst/>
          </a:prstGeom>
        </p:spPr>
      </p:pic>
      <p:sp>
        <p:nvSpPr>
          <p:cNvPr id="18" name="Text 11"/>
          <p:cNvSpPr txBox="1"/>
          <p:nvPr/>
        </p:nvSpPr>
        <p:spPr>
          <a:xfrm>
            <a:off x="7040880" y="3950208"/>
            <a:ext cx="4389120" cy="365760"/>
          </a:xfrm>
          <a:prstGeom prst="rect">
            <a:avLst/>
          </a:prstGeom>
          <a:noFill/>
          <a:ln/>
        </p:spPr>
        <p:txBody>
          <a:bodyPr wrap="square" lIns="0" tIns="0" rIns="0" bIns="0" rtlCol="0" anchor="t"/>
          <a:lstStyle/>
          <a:p>
            <a:pPr indent="0" marL="0">
              <a:buNone/>
            </a:pPr>
            <a:r>
              <a:rPr lang="en-US" sz="1800" b="1" dirty="0">
                <a:solidFill>
                  <a:srgbClr val="14325C"/>
                </a:solidFill>
                <a:latin typeface="Calibri" pitchFamily="34" charset="0"/>
                <a:ea typeface="Calibri" pitchFamily="34" charset="-122"/>
                <a:cs typeface="Calibri" pitchFamily="34" charset="-120"/>
              </a:rPr>
              <a:t>Why the edge</a:t>
            </a:r>
            <a:endParaRPr lang="en-US" sz="1800" dirty="0"/>
          </a:p>
        </p:txBody>
      </p:sp>
      <p:sp>
        <p:nvSpPr>
          <p:cNvPr id="19" name="Text 12"/>
          <p:cNvSpPr txBox="1"/>
          <p:nvPr/>
        </p:nvSpPr>
        <p:spPr>
          <a:xfrm>
            <a:off x="7040880" y="4343400"/>
            <a:ext cx="4389120" cy="13716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Local inference reduces dependence on cloud connectivity and cuts latency.</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Problem Statement and Motivation</a:t>
            </a:r>
            <a:endParaRPr lang="en-US" sz="3200" dirty="0"/>
          </a:p>
        </p:txBody>
      </p:sp>
      <p:sp>
        <p:nvSpPr>
          <p:cNvPr id="4" name="Shape 1"/>
          <p:cNvSpPr/>
          <p:nvPr/>
        </p:nvSpPr>
        <p:spPr>
          <a:xfrm>
            <a:off x="548640" y="1371600"/>
            <a:ext cx="5394960" cy="4754880"/>
          </a:xfrm>
          <a:prstGeom prst="roundRect">
            <a:avLst>
              <a:gd name="adj" fmla="val 1538"/>
            </a:avLst>
          </a:prstGeom>
          <a:solidFill>
            <a:srgbClr val="F4F8F5"/>
          </a:solidFill>
          <a:ln w="12700">
            <a:solidFill>
              <a:srgbClr val="F4F8F5"/>
            </a:solidFill>
            <a:prstDash val="solid"/>
          </a:ln>
        </p:spPr>
      </p:sp>
      <p:sp>
        <p:nvSpPr>
          <p:cNvPr id="5" name="Text 2"/>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2000" b="1" dirty="0">
                <a:solidFill>
                  <a:srgbClr val="14325C"/>
                </a:solidFill>
                <a:latin typeface="Calibri" pitchFamily="34" charset="0"/>
                <a:ea typeface="Calibri" pitchFamily="34" charset="-122"/>
                <a:cs typeface="Calibri" pitchFamily="34" charset="-120"/>
              </a:rPr>
              <a:t>The system should</a:t>
            </a:r>
            <a:endParaRPr lang="en-US" sz="2000" dirty="0"/>
          </a:p>
        </p:txBody>
      </p:sp>
      <p:sp>
        <p:nvSpPr>
          <p:cNvPr id="6" name="Text 3"/>
          <p:cNvSpPr txBox="1"/>
          <p:nvPr/>
        </p:nvSpPr>
        <p:spPr>
          <a:xfrm>
            <a:off x="822960" y="2103120"/>
            <a:ext cx="4846320" cy="3840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2933"/>
                </a:solidFill>
                <a:latin typeface="Calibri" pitchFamily="34" charset="0"/>
                <a:ea typeface="Calibri" pitchFamily="34" charset="-122"/>
                <a:cs typeface="Calibri" pitchFamily="34" charset="-120"/>
              </a:rPr>
              <a:t>Identify tomato leaf conditions automatically (Healthy, Early Blight, Late Blight)</a:t>
            </a:r>
            <a:endParaRPr lang="en-US" sz="1600" dirty="0"/>
          </a:p>
          <a:p>
            <a:pPr marL="342900" indent="-342900">
              <a:spcAft>
                <a:spcPts val="600"/>
              </a:spcAft>
              <a:buSzPct val="100000"/>
              <a:buChar char="•"/>
            </a:pPr>
            <a:r>
              <a:rPr lang="en-US" sz="1600" dirty="0">
                <a:solidFill>
                  <a:srgbClr val="1F2933"/>
                </a:solidFill>
                <a:latin typeface="Calibri" pitchFamily="34" charset="0"/>
                <a:ea typeface="Calibri" pitchFamily="34" charset="-122"/>
                <a:cs typeface="Calibri" pitchFamily="34" charset="-120"/>
              </a:rPr>
              <a:t>Run inference locally, without the cloud for every prediction</a:t>
            </a:r>
            <a:endParaRPr lang="en-US" sz="1600" dirty="0"/>
          </a:p>
          <a:p>
            <a:pPr marL="342900" indent="-342900">
              <a:spcAft>
                <a:spcPts val="600"/>
              </a:spcAft>
              <a:buSzPct val="100000"/>
              <a:buChar char="•"/>
            </a:pPr>
            <a:r>
              <a:rPr lang="en-US" sz="1600" dirty="0">
                <a:solidFill>
                  <a:srgbClr val="1F2933"/>
                </a:solidFill>
                <a:latin typeface="Calibri" pitchFamily="34" charset="0"/>
                <a:ea typeface="Calibri" pitchFamily="34" charset="-122"/>
                <a:cs typeface="Calibri" pitchFamily="34" charset="-120"/>
              </a:rPr>
              <a:t>Reduce inference latency</a:t>
            </a:r>
            <a:endParaRPr lang="en-US" sz="1600" dirty="0"/>
          </a:p>
          <a:p>
            <a:pPr marL="342900" indent="-342900">
              <a:spcAft>
                <a:spcPts val="600"/>
              </a:spcAft>
              <a:buSzPct val="100000"/>
              <a:buChar char="•"/>
            </a:pPr>
            <a:r>
              <a:rPr lang="en-US" sz="1600" dirty="0">
                <a:solidFill>
                  <a:srgbClr val="1F2933"/>
                </a:solidFill>
                <a:latin typeface="Calibri" pitchFamily="34" charset="0"/>
                <a:ea typeface="Calibri" pitchFamily="34" charset="-122"/>
                <a:cs typeface="Calibri" pitchFamily="34" charset="-120"/>
              </a:rPr>
              <a:t>Support future integration with edge cameras</a:t>
            </a:r>
            <a:endParaRPr lang="en-US" sz="1600" dirty="0"/>
          </a:p>
        </p:txBody>
      </p:sp>
      <p:sp>
        <p:nvSpPr>
          <p:cNvPr id="7" name="Shape 4"/>
          <p:cNvSpPr/>
          <p:nvPr/>
        </p:nvSpPr>
        <p:spPr>
          <a:xfrm>
            <a:off x="6217920" y="1371600"/>
            <a:ext cx="5394960" cy="2240280"/>
          </a:xfrm>
          <a:prstGeom prst="roundRect">
            <a:avLst>
              <a:gd name="adj" fmla="val 3265"/>
            </a:avLst>
          </a:prstGeom>
          <a:solidFill>
            <a:srgbClr val="E3F0E7"/>
          </a:solidFill>
          <a:ln w="12700">
            <a:solidFill>
              <a:srgbClr val="E3F0E7"/>
            </a:solidFill>
            <a:prstDash val="solid"/>
          </a:ln>
        </p:spPr>
      </p:sp>
      <p:sp>
        <p:nvSpPr>
          <p:cNvPr id="8" name="Text 5"/>
          <p:cNvSpPr txBox="1"/>
          <p:nvPr/>
        </p:nvSpPr>
        <p:spPr>
          <a:xfrm>
            <a:off x="6446520" y="1554480"/>
            <a:ext cx="1463040" cy="292608"/>
          </a:xfrm>
          <a:prstGeom prst="rect">
            <a:avLst/>
          </a:prstGeom>
          <a:solidFill>
            <a:srgbClr val="1B5E3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IMPLEMENTED</a:t>
            </a:r>
            <a:endParaRPr lang="en-US" sz="1100" dirty="0"/>
          </a:p>
        </p:txBody>
      </p:sp>
      <p:sp>
        <p:nvSpPr>
          <p:cNvPr id="9" name="Text 6"/>
          <p:cNvSpPr txBox="1"/>
          <p:nvPr/>
        </p:nvSpPr>
        <p:spPr>
          <a:xfrm>
            <a:off x="6446520" y="1965960"/>
            <a:ext cx="493776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Software prototype on a laptop</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PyTorch to OpenVINO, CPU inference</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Streamlit app, image upload</a:t>
            </a:r>
            <a:endParaRPr lang="en-US" sz="1500" dirty="0"/>
          </a:p>
        </p:txBody>
      </p:sp>
      <p:sp>
        <p:nvSpPr>
          <p:cNvPr id="10" name="Shape 7"/>
          <p:cNvSpPr/>
          <p:nvPr/>
        </p:nvSpPr>
        <p:spPr>
          <a:xfrm>
            <a:off x="6217920" y="3794760"/>
            <a:ext cx="5394960" cy="2331720"/>
          </a:xfrm>
          <a:prstGeom prst="roundRect">
            <a:avLst>
              <a:gd name="adj" fmla="val 3137"/>
            </a:avLst>
          </a:prstGeom>
          <a:solidFill>
            <a:srgbClr val="FCEBDD"/>
          </a:solidFill>
          <a:ln w="12700">
            <a:solidFill>
              <a:srgbClr val="FCEBDD"/>
            </a:solidFill>
            <a:prstDash val="solid"/>
          </a:ln>
        </p:spPr>
      </p:sp>
      <p:sp>
        <p:nvSpPr>
          <p:cNvPr id="11" name="Text 8"/>
          <p:cNvSpPr txBox="1"/>
          <p:nvPr/>
        </p:nvSpPr>
        <p:spPr>
          <a:xfrm>
            <a:off x="6446520" y="3977640"/>
            <a:ext cx="1463040" cy="292608"/>
          </a:xfrm>
          <a:prstGeom prst="rect">
            <a:avLst/>
          </a:prstGeom>
          <a:solidFill>
            <a:srgbClr val="C8591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 YET DONE</a:t>
            </a:r>
            <a:endParaRPr lang="en-US" sz="1100" dirty="0"/>
          </a:p>
        </p:txBody>
      </p:sp>
      <p:sp>
        <p:nvSpPr>
          <p:cNvPr id="12" name="Text 9"/>
          <p:cNvSpPr txBox="1"/>
          <p:nvPr/>
        </p:nvSpPr>
        <p:spPr>
          <a:xfrm>
            <a:off x="6446520" y="4389120"/>
            <a:ext cx="493776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Real edge camera integration</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Testing on an edge device</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Field-image validation</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Project Objectives</a:t>
            </a:r>
            <a:endParaRPr lang="en-US" sz="3200" dirty="0"/>
          </a:p>
        </p:txBody>
      </p:sp>
      <p:sp>
        <p:nvSpPr>
          <p:cNvPr id="4" name="Shape 1"/>
          <p:cNvSpPr/>
          <p:nvPr/>
        </p:nvSpPr>
        <p:spPr>
          <a:xfrm>
            <a:off x="548640" y="1371600"/>
            <a:ext cx="5440680" cy="1005840"/>
          </a:xfrm>
          <a:prstGeom prst="roundRect">
            <a:avLst>
              <a:gd name="adj" fmla="val 7273"/>
            </a:avLst>
          </a:prstGeom>
          <a:solidFill>
            <a:srgbClr val="F4F8F5"/>
          </a:solidFill>
          <a:ln w="12700">
            <a:solidFill>
              <a:srgbClr val="F4F8F5"/>
            </a:solidFill>
            <a:prstDash val="solid"/>
          </a:ln>
        </p:spPr>
      </p:sp>
      <p:sp>
        <p:nvSpPr>
          <p:cNvPr id="5" name="Shape 2"/>
          <p:cNvSpPr/>
          <p:nvPr/>
        </p:nvSpPr>
        <p:spPr>
          <a:xfrm>
            <a:off x="777240" y="1600200"/>
            <a:ext cx="548640" cy="548640"/>
          </a:xfrm>
          <a:prstGeom prst="ellipse">
            <a:avLst/>
          </a:prstGeom>
          <a:solidFill>
            <a:srgbClr val="1B5E3A"/>
          </a:solidFill>
          <a:ln w="12700">
            <a:solidFill>
              <a:srgbClr val="1B5E3A"/>
            </a:solidFill>
            <a:prstDash val="solid"/>
          </a:ln>
        </p:spPr>
      </p:sp>
      <p:sp>
        <p:nvSpPr>
          <p:cNvPr id="6" name="Text 3"/>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4"/>
          <p:cNvSpPr txBox="1"/>
          <p:nvPr/>
        </p:nvSpPr>
        <p:spPr>
          <a:xfrm>
            <a:off x="1508760" y="1463040"/>
            <a:ext cx="4297680"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Prepare and organise a tomato leaf dataset</a:t>
            </a:r>
            <a:endParaRPr lang="en-US" sz="1700" dirty="0"/>
          </a:p>
        </p:txBody>
      </p:sp>
      <p:sp>
        <p:nvSpPr>
          <p:cNvPr id="8" name="Shape 5"/>
          <p:cNvSpPr/>
          <p:nvPr/>
        </p:nvSpPr>
        <p:spPr>
          <a:xfrm>
            <a:off x="548640" y="2560320"/>
            <a:ext cx="5440680" cy="1005840"/>
          </a:xfrm>
          <a:prstGeom prst="roundRect">
            <a:avLst>
              <a:gd name="adj" fmla="val 7273"/>
            </a:avLst>
          </a:prstGeom>
          <a:solidFill>
            <a:srgbClr val="F4F8F5"/>
          </a:solidFill>
          <a:ln w="12700">
            <a:solidFill>
              <a:srgbClr val="F4F8F5"/>
            </a:solidFill>
            <a:prstDash val="solid"/>
          </a:ln>
        </p:spPr>
      </p:sp>
      <p:sp>
        <p:nvSpPr>
          <p:cNvPr id="9" name="Shape 6"/>
          <p:cNvSpPr/>
          <p:nvPr/>
        </p:nvSpPr>
        <p:spPr>
          <a:xfrm>
            <a:off x="777240" y="2788920"/>
            <a:ext cx="548640" cy="548640"/>
          </a:xfrm>
          <a:prstGeom prst="ellipse">
            <a:avLst/>
          </a:prstGeom>
          <a:solidFill>
            <a:srgbClr val="14325C"/>
          </a:solidFill>
          <a:ln w="12700">
            <a:solidFill>
              <a:srgbClr val="14325C"/>
            </a:solidFill>
            <a:prstDash val="solid"/>
          </a:ln>
        </p:spPr>
      </p:sp>
      <p:sp>
        <p:nvSpPr>
          <p:cNvPr id="10" name="Text 7"/>
          <p:cNvSpPr txBox="1"/>
          <p:nvPr/>
        </p:nvSpPr>
        <p:spPr>
          <a:xfrm>
            <a:off x="777240" y="2788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8"/>
          <p:cNvSpPr txBox="1"/>
          <p:nvPr/>
        </p:nvSpPr>
        <p:spPr>
          <a:xfrm>
            <a:off x="1508760" y="2651760"/>
            <a:ext cx="4297680"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Train a lightweight image classification model</a:t>
            </a:r>
            <a:endParaRPr lang="en-US" sz="1700" dirty="0"/>
          </a:p>
        </p:txBody>
      </p:sp>
      <p:sp>
        <p:nvSpPr>
          <p:cNvPr id="12" name="Shape 9"/>
          <p:cNvSpPr/>
          <p:nvPr/>
        </p:nvSpPr>
        <p:spPr>
          <a:xfrm>
            <a:off x="548640" y="3749040"/>
            <a:ext cx="5440680" cy="1005840"/>
          </a:xfrm>
          <a:prstGeom prst="roundRect">
            <a:avLst>
              <a:gd name="adj" fmla="val 7273"/>
            </a:avLst>
          </a:prstGeom>
          <a:solidFill>
            <a:srgbClr val="F4F8F5"/>
          </a:solidFill>
          <a:ln w="12700">
            <a:solidFill>
              <a:srgbClr val="F4F8F5"/>
            </a:solidFill>
            <a:prstDash val="solid"/>
          </a:ln>
        </p:spPr>
      </p:sp>
      <p:sp>
        <p:nvSpPr>
          <p:cNvPr id="13" name="Shape 10"/>
          <p:cNvSpPr/>
          <p:nvPr/>
        </p:nvSpPr>
        <p:spPr>
          <a:xfrm>
            <a:off x="777240" y="3977640"/>
            <a:ext cx="548640" cy="548640"/>
          </a:xfrm>
          <a:prstGeom prst="ellipse">
            <a:avLst/>
          </a:prstGeom>
          <a:solidFill>
            <a:srgbClr val="1B5E3A"/>
          </a:solidFill>
          <a:ln w="12700">
            <a:solidFill>
              <a:srgbClr val="1B5E3A"/>
            </a:solidFill>
            <a:prstDash val="solid"/>
          </a:ln>
        </p:spPr>
      </p:sp>
      <p:sp>
        <p:nvSpPr>
          <p:cNvPr id="14" name="Text 11"/>
          <p:cNvSpPr txBox="1"/>
          <p:nvPr/>
        </p:nvSpPr>
        <p:spPr>
          <a:xfrm>
            <a:off x="777240" y="3977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2"/>
          <p:cNvSpPr txBox="1"/>
          <p:nvPr/>
        </p:nvSpPr>
        <p:spPr>
          <a:xfrm>
            <a:off x="1508760" y="3840480"/>
            <a:ext cx="4297680"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Convert the trained model to OpenVINO IR</a:t>
            </a:r>
            <a:endParaRPr lang="en-US" sz="1700" dirty="0"/>
          </a:p>
        </p:txBody>
      </p:sp>
      <p:sp>
        <p:nvSpPr>
          <p:cNvPr id="16" name="Shape 13"/>
          <p:cNvSpPr/>
          <p:nvPr/>
        </p:nvSpPr>
        <p:spPr>
          <a:xfrm>
            <a:off x="548640" y="4937760"/>
            <a:ext cx="5440680" cy="1005840"/>
          </a:xfrm>
          <a:prstGeom prst="roundRect">
            <a:avLst>
              <a:gd name="adj" fmla="val 7273"/>
            </a:avLst>
          </a:prstGeom>
          <a:solidFill>
            <a:srgbClr val="F4F8F5"/>
          </a:solidFill>
          <a:ln w="12700">
            <a:solidFill>
              <a:srgbClr val="F4F8F5"/>
            </a:solidFill>
            <a:prstDash val="solid"/>
          </a:ln>
        </p:spPr>
      </p:sp>
      <p:sp>
        <p:nvSpPr>
          <p:cNvPr id="17" name="Shape 14"/>
          <p:cNvSpPr/>
          <p:nvPr/>
        </p:nvSpPr>
        <p:spPr>
          <a:xfrm>
            <a:off x="777240" y="5166360"/>
            <a:ext cx="548640" cy="548640"/>
          </a:xfrm>
          <a:prstGeom prst="ellipse">
            <a:avLst/>
          </a:prstGeom>
          <a:solidFill>
            <a:srgbClr val="14325C"/>
          </a:solidFill>
          <a:ln w="12700">
            <a:solidFill>
              <a:srgbClr val="14325C"/>
            </a:solidFill>
            <a:prstDash val="solid"/>
          </a:ln>
        </p:spPr>
      </p:sp>
      <p:sp>
        <p:nvSpPr>
          <p:cNvPr id="18" name="Text 15"/>
          <p:cNvSpPr txBox="1"/>
          <p:nvPr/>
        </p:nvSpPr>
        <p:spPr>
          <a:xfrm>
            <a:off x="777240" y="5166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Text 16"/>
          <p:cNvSpPr txBox="1"/>
          <p:nvPr/>
        </p:nvSpPr>
        <p:spPr>
          <a:xfrm>
            <a:off x="1508760" y="5029200"/>
            <a:ext cx="4297680"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Evaluate the PyTorch and OpenVINO models</a:t>
            </a:r>
            <a:endParaRPr lang="en-US" sz="1700" dirty="0"/>
          </a:p>
        </p:txBody>
      </p:sp>
      <p:sp>
        <p:nvSpPr>
          <p:cNvPr id="20" name="Shape 17"/>
          <p:cNvSpPr/>
          <p:nvPr/>
        </p:nvSpPr>
        <p:spPr>
          <a:xfrm>
            <a:off x="6172200" y="1371600"/>
            <a:ext cx="5440680" cy="1005840"/>
          </a:xfrm>
          <a:prstGeom prst="roundRect">
            <a:avLst>
              <a:gd name="adj" fmla="val 7273"/>
            </a:avLst>
          </a:prstGeom>
          <a:solidFill>
            <a:srgbClr val="F4F8F5"/>
          </a:solidFill>
          <a:ln w="12700">
            <a:solidFill>
              <a:srgbClr val="F4F8F5"/>
            </a:solidFill>
            <a:prstDash val="solid"/>
          </a:ln>
        </p:spPr>
      </p:sp>
      <p:sp>
        <p:nvSpPr>
          <p:cNvPr id="21" name="Shape 18"/>
          <p:cNvSpPr/>
          <p:nvPr/>
        </p:nvSpPr>
        <p:spPr>
          <a:xfrm>
            <a:off x="6400800" y="1600200"/>
            <a:ext cx="548640" cy="548640"/>
          </a:xfrm>
          <a:prstGeom prst="ellipse">
            <a:avLst/>
          </a:prstGeom>
          <a:solidFill>
            <a:srgbClr val="1B5E3A"/>
          </a:solidFill>
          <a:ln w="12700">
            <a:solidFill>
              <a:srgbClr val="1B5E3A"/>
            </a:solidFill>
            <a:prstDash val="solid"/>
          </a:ln>
        </p:spPr>
      </p:sp>
      <p:sp>
        <p:nvSpPr>
          <p:cNvPr id="22" name="Text 19"/>
          <p:cNvSpPr txBox="1"/>
          <p:nvPr/>
        </p:nvSpPr>
        <p:spPr>
          <a:xfrm>
            <a:off x="6400800" y="16002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3" name="Text 20"/>
          <p:cNvSpPr txBox="1"/>
          <p:nvPr/>
        </p:nvSpPr>
        <p:spPr>
          <a:xfrm>
            <a:off x="7132320" y="1463040"/>
            <a:ext cx="4297680"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Compare CPU inference performance</a:t>
            </a:r>
            <a:endParaRPr lang="en-US" sz="1700" dirty="0"/>
          </a:p>
        </p:txBody>
      </p:sp>
      <p:sp>
        <p:nvSpPr>
          <p:cNvPr id="24" name="Shape 21"/>
          <p:cNvSpPr/>
          <p:nvPr/>
        </p:nvSpPr>
        <p:spPr>
          <a:xfrm>
            <a:off x="6172200" y="2560320"/>
            <a:ext cx="5440680" cy="1005840"/>
          </a:xfrm>
          <a:prstGeom prst="roundRect">
            <a:avLst>
              <a:gd name="adj" fmla="val 7273"/>
            </a:avLst>
          </a:prstGeom>
          <a:solidFill>
            <a:srgbClr val="F4F8F5"/>
          </a:solidFill>
          <a:ln w="12700">
            <a:solidFill>
              <a:srgbClr val="F4F8F5"/>
            </a:solidFill>
            <a:prstDash val="solid"/>
          </a:ln>
        </p:spPr>
      </p:sp>
      <p:sp>
        <p:nvSpPr>
          <p:cNvPr id="25" name="Shape 22"/>
          <p:cNvSpPr/>
          <p:nvPr/>
        </p:nvSpPr>
        <p:spPr>
          <a:xfrm>
            <a:off x="6400800" y="2788920"/>
            <a:ext cx="548640" cy="548640"/>
          </a:xfrm>
          <a:prstGeom prst="ellipse">
            <a:avLst/>
          </a:prstGeom>
          <a:solidFill>
            <a:srgbClr val="14325C"/>
          </a:solidFill>
          <a:ln w="12700">
            <a:solidFill>
              <a:srgbClr val="14325C"/>
            </a:solidFill>
            <a:prstDash val="solid"/>
          </a:ln>
        </p:spPr>
      </p:sp>
      <p:sp>
        <p:nvSpPr>
          <p:cNvPr id="26" name="Text 23"/>
          <p:cNvSpPr txBox="1"/>
          <p:nvPr/>
        </p:nvSpPr>
        <p:spPr>
          <a:xfrm>
            <a:off x="6400800" y="2788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7" name="Text 24"/>
          <p:cNvSpPr txBox="1"/>
          <p:nvPr/>
        </p:nvSpPr>
        <p:spPr>
          <a:xfrm>
            <a:off x="7132320" y="2651760"/>
            <a:ext cx="4297680"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Build an interactive Streamlit application</a:t>
            </a:r>
            <a:endParaRPr lang="en-US" sz="1700" dirty="0"/>
          </a:p>
        </p:txBody>
      </p:sp>
      <p:sp>
        <p:nvSpPr>
          <p:cNvPr id="28" name="Shape 25"/>
          <p:cNvSpPr/>
          <p:nvPr/>
        </p:nvSpPr>
        <p:spPr>
          <a:xfrm>
            <a:off x="6172200" y="3749040"/>
            <a:ext cx="5440680" cy="1005840"/>
          </a:xfrm>
          <a:prstGeom prst="roundRect">
            <a:avLst>
              <a:gd name="adj" fmla="val 7273"/>
            </a:avLst>
          </a:prstGeom>
          <a:solidFill>
            <a:srgbClr val="F4F8F5"/>
          </a:solidFill>
          <a:ln w="12700">
            <a:solidFill>
              <a:srgbClr val="F4F8F5"/>
            </a:solidFill>
            <a:prstDash val="solid"/>
          </a:ln>
        </p:spPr>
      </p:sp>
      <p:sp>
        <p:nvSpPr>
          <p:cNvPr id="29" name="Shape 26"/>
          <p:cNvSpPr/>
          <p:nvPr/>
        </p:nvSpPr>
        <p:spPr>
          <a:xfrm>
            <a:off x="6400800" y="3977640"/>
            <a:ext cx="548640" cy="548640"/>
          </a:xfrm>
          <a:prstGeom prst="ellipse">
            <a:avLst/>
          </a:prstGeom>
          <a:solidFill>
            <a:srgbClr val="1B5E3A"/>
          </a:solidFill>
          <a:ln w="12700">
            <a:solidFill>
              <a:srgbClr val="1B5E3A"/>
            </a:solidFill>
            <a:prstDash val="solid"/>
          </a:ln>
        </p:spPr>
      </p:sp>
      <p:sp>
        <p:nvSpPr>
          <p:cNvPr id="30" name="Text 27"/>
          <p:cNvSpPr txBox="1"/>
          <p:nvPr/>
        </p:nvSpPr>
        <p:spPr>
          <a:xfrm>
            <a:off x="6400800" y="3977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31" name="Text 28"/>
          <p:cNvSpPr txBox="1"/>
          <p:nvPr/>
        </p:nvSpPr>
        <p:spPr>
          <a:xfrm>
            <a:off x="7132320" y="3840480"/>
            <a:ext cx="4297680" cy="82296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Discuss field deployment feasibility and limitations</a:t>
            </a:r>
            <a:endParaRPr lang="en-US" sz="17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System Architecture</a:t>
            </a:r>
            <a:endParaRPr lang="en-US" sz="3200" dirty="0"/>
          </a:p>
        </p:txBody>
      </p:sp>
      <p:sp>
        <p:nvSpPr>
          <p:cNvPr id="4" name="Text 1"/>
          <p:cNvSpPr txBox="1"/>
          <p:nvPr/>
        </p:nvSpPr>
        <p:spPr>
          <a:xfrm>
            <a:off x="548640" y="1280160"/>
            <a:ext cx="5486400" cy="320040"/>
          </a:xfrm>
          <a:prstGeom prst="rect">
            <a:avLst/>
          </a:prstGeom>
          <a:noFill/>
          <a:ln/>
        </p:spPr>
        <p:txBody>
          <a:bodyPr wrap="square" lIns="0" tIns="0" rIns="0" bIns="0" rtlCol="0" anchor="t"/>
          <a:lstStyle/>
          <a:p>
            <a:pPr indent="0" marL="0">
              <a:buNone/>
            </a:pPr>
            <a:r>
              <a:rPr lang="en-US" sz="1600" b="1" dirty="0">
                <a:solidFill>
                  <a:srgbClr val="1B5E3A"/>
                </a:solidFill>
                <a:latin typeface="Calibri" pitchFamily="34" charset="0"/>
                <a:ea typeface="Calibri" pitchFamily="34" charset="-122"/>
                <a:cs typeface="Calibri" pitchFamily="34" charset="-120"/>
              </a:rPr>
              <a:t>Inference path (implemented)</a:t>
            </a:r>
            <a:endParaRPr lang="en-US" sz="1600" dirty="0"/>
          </a:p>
        </p:txBody>
      </p:sp>
      <p:sp>
        <p:nvSpPr>
          <p:cNvPr id="5" name="Shape 2"/>
          <p:cNvSpPr/>
          <p:nvPr/>
        </p:nvSpPr>
        <p:spPr>
          <a:xfrm>
            <a:off x="548640" y="1691640"/>
            <a:ext cx="1417320" cy="1005840"/>
          </a:xfrm>
          <a:prstGeom prst="roundRect">
            <a:avLst>
              <a:gd name="adj" fmla="val 7273"/>
            </a:avLst>
          </a:prstGeom>
          <a:solidFill>
            <a:srgbClr val="E3F0E7"/>
          </a:solidFill>
          <a:ln w="19050">
            <a:solidFill>
              <a:srgbClr val="1B5E3A"/>
            </a:solidFill>
            <a:prstDash val="solid"/>
          </a:ln>
        </p:spPr>
      </p:sp>
      <p:sp>
        <p:nvSpPr>
          <p:cNvPr id="6" name="Text 3"/>
          <p:cNvSpPr txBox="1"/>
          <p:nvPr/>
        </p:nvSpPr>
        <p:spPr>
          <a:xfrm>
            <a:off x="594360" y="1691640"/>
            <a:ext cx="1325880" cy="1005840"/>
          </a:xfrm>
          <a:prstGeom prst="rect">
            <a:avLst/>
          </a:prstGeom>
          <a:noFill/>
          <a:ln/>
        </p:spPr>
        <p:txBody>
          <a:bodyPr wrap="square" lIns="0" tIns="0" rIns="0" bIns="0" rtlCol="0" anchor="ctr"/>
          <a:lstStyle/>
          <a:p>
            <a:pPr algn="ctr" indent="0" marL="0">
              <a:buNone/>
            </a:pPr>
            <a:r>
              <a:rPr lang="en-US" sz="1400" b="1" dirty="0">
                <a:solidFill>
                  <a:srgbClr val="1B5E3A"/>
                </a:solidFill>
                <a:latin typeface="Calibri" pitchFamily="34" charset="0"/>
                <a:ea typeface="Calibri" pitchFamily="34" charset="-122"/>
                <a:cs typeface="Calibri" pitchFamily="34" charset="-120"/>
              </a:rPr>
              <a:t>Tomato leaf image</a:t>
            </a:r>
            <a:endParaRPr lang="en-US" sz="1400" dirty="0"/>
          </a:p>
        </p:txBody>
      </p:sp>
      <p:sp>
        <p:nvSpPr>
          <p:cNvPr id="7" name="Text 4"/>
          <p:cNvSpPr txBox="1"/>
          <p:nvPr/>
        </p:nvSpPr>
        <p:spPr>
          <a:xfrm>
            <a:off x="1947672" y="2011680"/>
            <a:ext cx="201168"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8" name="Shape 5"/>
          <p:cNvSpPr/>
          <p:nvPr/>
        </p:nvSpPr>
        <p:spPr>
          <a:xfrm>
            <a:off x="2148840" y="1691640"/>
            <a:ext cx="1417320" cy="1005840"/>
          </a:xfrm>
          <a:prstGeom prst="roundRect">
            <a:avLst>
              <a:gd name="adj" fmla="val 7273"/>
            </a:avLst>
          </a:prstGeom>
          <a:solidFill>
            <a:srgbClr val="E3F0E7"/>
          </a:solidFill>
          <a:ln w="19050">
            <a:solidFill>
              <a:srgbClr val="1B5E3A"/>
            </a:solidFill>
            <a:prstDash val="solid"/>
          </a:ln>
        </p:spPr>
      </p:sp>
      <p:sp>
        <p:nvSpPr>
          <p:cNvPr id="9" name="Text 6"/>
          <p:cNvSpPr txBox="1"/>
          <p:nvPr/>
        </p:nvSpPr>
        <p:spPr>
          <a:xfrm>
            <a:off x="2194560" y="1691640"/>
            <a:ext cx="1325880" cy="1005840"/>
          </a:xfrm>
          <a:prstGeom prst="rect">
            <a:avLst/>
          </a:prstGeom>
          <a:noFill/>
          <a:ln/>
        </p:spPr>
        <p:txBody>
          <a:bodyPr wrap="square" lIns="0" tIns="0" rIns="0" bIns="0" rtlCol="0" anchor="ctr"/>
          <a:lstStyle/>
          <a:p>
            <a:pPr algn="ctr" indent="0" marL="0">
              <a:buNone/>
            </a:pPr>
            <a:r>
              <a:rPr lang="en-US" sz="1400" b="1" dirty="0">
                <a:solidFill>
                  <a:srgbClr val="1B5E3A"/>
                </a:solidFill>
                <a:latin typeface="Calibri" pitchFamily="34" charset="0"/>
                <a:ea typeface="Calibri" pitchFamily="34" charset="-122"/>
                <a:cs typeface="Calibri" pitchFamily="34" charset="-120"/>
              </a:rPr>
              <a:t>Image preprocessing</a:t>
            </a:r>
            <a:endParaRPr lang="en-US" sz="1400" dirty="0"/>
          </a:p>
        </p:txBody>
      </p:sp>
      <p:sp>
        <p:nvSpPr>
          <p:cNvPr id="10" name="Text 7"/>
          <p:cNvSpPr txBox="1"/>
          <p:nvPr/>
        </p:nvSpPr>
        <p:spPr>
          <a:xfrm>
            <a:off x="3547872" y="2011680"/>
            <a:ext cx="201168"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11" name="Shape 8"/>
          <p:cNvSpPr/>
          <p:nvPr/>
        </p:nvSpPr>
        <p:spPr>
          <a:xfrm>
            <a:off x="3749040" y="1691640"/>
            <a:ext cx="1417320" cy="1005840"/>
          </a:xfrm>
          <a:prstGeom prst="roundRect">
            <a:avLst>
              <a:gd name="adj" fmla="val 7273"/>
            </a:avLst>
          </a:prstGeom>
          <a:solidFill>
            <a:srgbClr val="E3F0E7"/>
          </a:solidFill>
          <a:ln w="19050">
            <a:solidFill>
              <a:srgbClr val="1B5E3A"/>
            </a:solidFill>
            <a:prstDash val="solid"/>
          </a:ln>
        </p:spPr>
      </p:sp>
      <p:sp>
        <p:nvSpPr>
          <p:cNvPr id="12" name="Text 9"/>
          <p:cNvSpPr txBox="1"/>
          <p:nvPr/>
        </p:nvSpPr>
        <p:spPr>
          <a:xfrm>
            <a:off x="3794760" y="1691640"/>
            <a:ext cx="1325880" cy="1005840"/>
          </a:xfrm>
          <a:prstGeom prst="rect">
            <a:avLst/>
          </a:prstGeom>
          <a:noFill/>
          <a:ln/>
        </p:spPr>
        <p:txBody>
          <a:bodyPr wrap="square" lIns="0" tIns="0" rIns="0" bIns="0" rtlCol="0" anchor="ctr"/>
          <a:lstStyle/>
          <a:p>
            <a:pPr algn="ctr" indent="0" marL="0">
              <a:buNone/>
            </a:pPr>
            <a:r>
              <a:rPr lang="en-US" sz="1400" b="1" dirty="0">
                <a:solidFill>
                  <a:srgbClr val="1B5E3A"/>
                </a:solidFill>
                <a:latin typeface="Calibri" pitchFamily="34" charset="0"/>
                <a:ea typeface="Calibri" pitchFamily="34" charset="-122"/>
                <a:cs typeface="Calibri" pitchFamily="34" charset="-120"/>
              </a:rPr>
              <a:t>MobileNetV3-Small model</a:t>
            </a:r>
            <a:endParaRPr lang="en-US" sz="1400" dirty="0"/>
          </a:p>
        </p:txBody>
      </p:sp>
      <p:sp>
        <p:nvSpPr>
          <p:cNvPr id="13" name="Text 10"/>
          <p:cNvSpPr txBox="1"/>
          <p:nvPr/>
        </p:nvSpPr>
        <p:spPr>
          <a:xfrm>
            <a:off x="5148072" y="2011680"/>
            <a:ext cx="201168"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14" name="Shape 11"/>
          <p:cNvSpPr/>
          <p:nvPr/>
        </p:nvSpPr>
        <p:spPr>
          <a:xfrm>
            <a:off x="5349240" y="1691640"/>
            <a:ext cx="1417320" cy="1005840"/>
          </a:xfrm>
          <a:prstGeom prst="roundRect">
            <a:avLst>
              <a:gd name="adj" fmla="val 7273"/>
            </a:avLst>
          </a:prstGeom>
          <a:solidFill>
            <a:srgbClr val="E3F0E7"/>
          </a:solidFill>
          <a:ln w="19050">
            <a:solidFill>
              <a:srgbClr val="1B5E3A"/>
            </a:solidFill>
            <a:prstDash val="solid"/>
          </a:ln>
        </p:spPr>
      </p:sp>
      <p:sp>
        <p:nvSpPr>
          <p:cNvPr id="15" name="Text 12"/>
          <p:cNvSpPr txBox="1"/>
          <p:nvPr/>
        </p:nvSpPr>
        <p:spPr>
          <a:xfrm>
            <a:off x="5394960" y="1691640"/>
            <a:ext cx="1325880" cy="1005840"/>
          </a:xfrm>
          <a:prstGeom prst="rect">
            <a:avLst/>
          </a:prstGeom>
          <a:noFill/>
          <a:ln/>
        </p:spPr>
        <p:txBody>
          <a:bodyPr wrap="square" lIns="0" tIns="0" rIns="0" bIns="0" rtlCol="0" anchor="ctr"/>
          <a:lstStyle/>
          <a:p>
            <a:pPr algn="ctr" indent="0" marL="0">
              <a:buNone/>
            </a:pPr>
            <a:r>
              <a:rPr lang="en-US" sz="1400" b="1" dirty="0">
                <a:solidFill>
                  <a:srgbClr val="1B5E3A"/>
                </a:solidFill>
                <a:latin typeface="Calibri" pitchFamily="34" charset="0"/>
                <a:ea typeface="Calibri" pitchFamily="34" charset="-122"/>
                <a:cs typeface="Calibri" pitchFamily="34" charset="-120"/>
              </a:rPr>
              <a:t>OpenVINO inference</a:t>
            </a:r>
            <a:endParaRPr lang="en-US" sz="1400" dirty="0"/>
          </a:p>
        </p:txBody>
      </p:sp>
      <p:sp>
        <p:nvSpPr>
          <p:cNvPr id="16" name="Text 13"/>
          <p:cNvSpPr txBox="1"/>
          <p:nvPr/>
        </p:nvSpPr>
        <p:spPr>
          <a:xfrm>
            <a:off x="6748272" y="2011680"/>
            <a:ext cx="201168"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17" name="Shape 14"/>
          <p:cNvSpPr/>
          <p:nvPr/>
        </p:nvSpPr>
        <p:spPr>
          <a:xfrm>
            <a:off x="6949440" y="1691640"/>
            <a:ext cx="1417320" cy="1005840"/>
          </a:xfrm>
          <a:prstGeom prst="roundRect">
            <a:avLst>
              <a:gd name="adj" fmla="val 7273"/>
            </a:avLst>
          </a:prstGeom>
          <a:solidFill>
            <a:srgbClr val="E3F0E7"/>
          </a:solidFill>
          <a:ln w="19050">
            <a:solidFill>
              <a:srgbClr val="1B5E3A"/>
            </a:solidFill>
            <a:prstDash val="solid"/>
          </a:ln>
        </p:spPr>
      </p:sp>
      <p:sp>
        <p:nvSpPr>
          <p:cNvPr id="18" name="Text 15"/>
          <p:cNvSpPr txBox="1"/>
          <p:nvPr/>
        </p:nvSpPr>
        <p:spPr>
          <a:xfrm>
            <a:off x="6995160" y="1691640"/>
            <a:ext cx="1325880" cy="1005840"/>
          </a:xfrm>
          <a:prstGeom prst="rect">
            <a:avLst/>
          </a:prstGeom>
          <a:noFill/>
          <a:ln/>
        </p:spPr>
        <p:txBody>
          <a:bodyPr wrap="square" lIns="0" tIns="0" rIns="0" bIns="0" rtlCol="0" anchor="ctr"/>
          <a:lstStyle/>
          <a:p>
            <a:pPr algn="ctr" indent="0" marL="0">
              <a:buNone/>
            </a:pPr>
            <a:r>
              <a:rPr lang="en-US" sz="1400" b="1" dirty="0">
                <a:solidFill>
                  <a:srgbClr val="1B5E3A"/>
                </a:solidFill>
                <a:latin typeface="Calibri" pitchFamily="34" charset="0"/>
                <a:ea typeface="Calibri" pitchFamily="34" charset="-122"/>
                <a:cs typeface="Calibri" pitchFamily="34" charset="-120"/>
              </a:rPr>
              <a:t>Class prediction</a:t>
            </a:r>
            <a:endParaRPr lang="en-US" sz="1400" dirty="0"/>
          </a:p>
        </p:txBody>
      </p:sp>
      <p:sp>
        <p:nvSpPr>
          <p:cNvPr id="19" name="Text 16"/>
          <p:cNvSpPr txBox="1"/>
          <p:nvPr/>
        </p:nvSpPr>
        <p:spPr>
          <a:xfrm>
            <a:off x="8348472" y="2011680"/>
            <a:ext cx="201168"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20" name="Shape 17"/>
          <p:cNvSpPr/>
          <p:nvPr/>
        </p:nvSpPr>
        <p:spPr>
          <a:xfrm>
            <a:off x="8549640" y="1691640"/>
            <a:ext cx="1417320" cy="1005840"/>
          </a:xfrm>
          <a:prstGeom prst="roundRect">
            <a:avLst>
              <a:gd name="adj" fmla="val 7273"/>
            </a:avLst>
          </a:prstGeom>
          <a:solidFill>
            <a:srgbClr val="E3F0E7"/>
          </a:solidFill>
          <a:ln w="19050">
            <a:solidFill>
              <a:srgbClr val="1B5E3A"/>
            </a:solidFill>
            <a:prstDash val="solid"/>
          </a:ln>
        </p:spPr>
      </p:sp>
      <p:sp>
        <p:nvSpPr>
          <p:cNvPr id="21" name="Text 18"/>
          <p:cNvSpPr txBox="1"/>
          <p:nvPr/>
        </p:nvSpPr>
        <p:spPr>
          <a:xfrm>
            <a:off x="8595360" y="1691640"/>
            <a:ext cx="1325880" cy="1005840"/>
          </a:xfrm>
          <a:prstGeom prst="rect">
            <a:avLst/>
          </a:prstGeom>
          <a:noFill/>
          <a:ln/>
        </p:spPr>
        <p:txBody>
          <a:bodyPr wrap="square" lIns="0" tIns="0" rIns="0" bIns="0" rtlCol="0" anchor="ctr"/>
          <a:lstStyle/>
          <a:p>
            <a:pPr algn="ctr" indent="0" marL="0">
              <a:buNone/>
            </a:pPr>
            <a:r>
              <a:rPr lang="en-US" sz="1400" b="1" dirty="0">
                <a:solidFill>
                  <a:srgbClr val="1B5E3A"/>
                </a:solidFill>
                <a:latin typeface="Calibri" pitchFamily="34" charset="0"/>
                <a:ea typeface="Calibri" pitchFamily="34" charset="-122"/>
                <a:cs typeface="Calibri" pitchFamily="34" charset="-120"/>
              </a:rPr>
              <a:t>Confidence scores</a:t>
            </a:r>
            <a:endParaRPr lang="en-US" sz="1400" dirty="0"/>
          </a:p>
        </p:txBody>
      </p:sp>
      <p:sp>
        <p:nvSpPr>
          <p:cNvPr id="22" name="Text 19"/>
          <p:cNvSpPr txBox="1"/>
          <p:nvPr/>
        </p:nvSpPr>
        <p:spPr>
          <a:xfrm>
            <a:off x="9948672" y="2011680"/>
            <a:ext cx="201168"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23" name="Shape 20"/>
          <p:cNvSpPr/>
          <p:nvPr/>
        </p:nvSpPr>
        <p:spPr>
          <a:xfrm>
            <a:off x="10149840" y="1691640"/>
            <a:ext cx="1417320" cy="1005840"/>
          </a:xfrm>
          <a:prstGeom prst="roundRect">
            <a:avLst>
              <a:gd name="adj" fmla="val 7273"/>
            </a:avLst>
          </a:prstGeom>
          <a:solidFill>
            <a:srgbClr val="E3F0E7"/>
          </a:solidFill>
          <a:ln w="19050">
            <a:solidFill>
              <a:srgbClr val="1B5E3A"/>
            </a:solidFill>
            <a:prstDash val="solid"/>
          </a:ln>
        </p:spPr>
      </p:sp>
      <p:sp>
        <p:nvSpPr>
          <p:cNvPr id="24" name="Text 21"/>
          <p:cNvSpPr txBox="1"/>
          <p:nvPr/>
        </p:nvSpPr>
        <p:spPr>
          <a:xfrm>
            <a:off x="10195560" y="1691640"/>
            <a:ext cx="1325880" cy="1005840"/>
          </a:xfrm>
          <a:prstGeom prst="rect">
            <a:avLst/>
          </a:prstGeom>
          <a:noFill/>
          <a:ln/>
        </p:spPr>
        <p:txBody>
          <a:bodyPr wrap="square" lIns="0" tIns="0" rIns="0" bIns="0" rtlCol="0" anchor="ctr"/>
          <a:lstStyle/>
          <a:p>
            <a:pPr algn="ctr" indent="0" marL="0">
              <a:buNone/>
            </a:pPr>
            <a:r>
              <a:rPr lang="en-US" sz="1400" b="1" dirty="0">
                <a:solidFill>
                  <a:srgbClr val="1B5E3A"/>
                </a:solidFill>
                <a:latin typeface="Calibri" pitchFamily="34" charset="0"/>
                <a:ea typeface="Calibri" pitchFamily="34" charset="-122"/>
                <a:cs typeface="Calibri" pitchFamily="34" charset="-120"/>
              </a:rPr>
              <a:t>Streamlit interface</a:t>
            </a:r>
            <a:endParaRPr lang="en-US" sz="1400" dirty="0"/>
          </a:p>
        </p:txBody>
      </p:sp>
      <p:sp>
        <p:nvSpPr>
          <p:cNvPr id="25" name="Text 22"/>
          <p:cNvSpPr txBox="1"/>
          <p:nvPr/>
        </p:nvSpPr>
        <p:spPr>
          <a:xfrm>
            <a:off x="548640" y="3017520"/>
            <a:ext cx="6400800" cy="320040"/>
          </a:xfrm>
          <a:prstGeom prst="rect">
            <a:avLst/>
          </a:prstGeom>
          <a:noFill/>
          <a:ln/>
        </p:spPr>
        <p:txBody>
          <a:bodyPr wrap="square" lIns="0" tIns="0" rIns="0" bIns="0" rtlCol="0" anchor="t"/>
          <a:lstStyle/>
          <a:p>
            <a:pPr indent="0" marL="0">
              <a:buNone/>
            </a:pPr>
            <a:r>
              <a:rPr lang="en-US" sz="1600" b="1" dirty="0">
                <a:solidFill>
                  <a:srgbClr val="14325C"/>
                </a:solidFill>
                <a:latin typeface="Calibri" pitchFamily="34" charset="0"/>
                <a:ea typeface="Calibri" pitchFamily="34" charset="-122"/>
                <a:cs typeface="Calibri" pitchFamily="34" charset="-120"/>
              </a:rPr>
              <a:t>Training and deployment path (implemented)</a:t>
            </a:r>
            <a:endParaRPr lang="en-US" sz="1600" dirty="0"/>
          </a:p>
        </p:txBody>
      </p:sp>
      <p:sp>
        <p:nvSpPr>
          <p:cNvPr id="26" name="Shape 23"/>
          <p:cNvSpPr/>
          <p:nvPr/>
        </p:nvSpPr>
        <p:spPr>
          <a:xfrm>
            <a:off x="548640" y="3429000"/>
            <a:ext cx="1417320" cy="1005840"/>
          </a:xfrm>
          <a:prstGeom prst="roundRect">
            <a:avLst>
              <a:gd name="adj" fmla="val 7273"/>
            </a:avLst>
          </a:prstGeom>
          <a:solidFill>
            <a:srgbClr val="E4EBF5"/>
          </a:solidFill>
          <a:ln w="19050">
            <a:solidFill>
              <a:srgbClr val="14325C"/>
            </a:solidFill>
            <a:prstDash val="solid"/>
          </a:ln>
        </p:spPr>
      </p:sp>
      <p:sp>
        <p:nvSpPr>
          <p:cNvPr id="27" name="Text 24"/>
          <p:cNvSpPr txBox="1"/>
          <p:nvPr/>
        </p:nvSpPr>
        <p:spPr>
          <a:xfrm>
            <a:off x="594360" y="3429000"/>
            <a:ext cx="1325880" cy="1005840"/>
          </a:xfrm>
          <a:prstGeom prst="rect">
            <a:avLst/>
          </a:prstGeom>
          <a:noFill/>
          <a:ln/>
        </p:spPr>
        <p:txBody>
          <a:bodyPr wrap="square" lIns="0" tIns="0" rIns="0" bIns="0" rtlCol="0" anchor="ctr"/>
          <a:lstStyle/>
          <a:p>
            <a:pPr algn="ctr" indent="0" marL="0">
              <a:buNone/>
            </a:pPr>
            <a:r>
              <a:rPr lang="en-US" sz="1400" b="1" dirty="0">
                <a:solidFill>
                  <a:srgbClr val="14325C"/>
                </a:solidFill>
                <a:latin typeface="Calibri" pitchFamily="34" charset="0"/>
                <a:ea typeface="Calibri" pitchFamily="34" charset="-122"/>
                <a:cs typeface="Calibri" pitchFamily="34" charset="-120"/>
              </a:rPr>
              <a:t>Training dataset</a:t>
            </a:r>
            <a:endParaRPr lang="en-US" sz="1400" dirty="0"/>
          </a:p>
        </p:txBody>
      </p:sp>
      <p:sp>
        <p:nvSpPr>
          <p:cNvPr id="28" name="Text 25"/>
          <p:cNvSpPr txBox="1"/>
          <p:nvPr/>
        </p:nvSpPr>
        <p:spPr>
          <a:xfrm>
            <a:off x="1947672" y="3749040"/>
            <a:ext cx="201168" cy="365760"/>
          </a:xfrm>
          <a:prstGeom prst="rect">
            <a:avLst/>
          </a:prstGeom>
          <a:noFill/>
          <a:ln/>
        </p:spPr>
        <p:txBody>
          <a:bodyPr wrap="square" lIns="0" tIns="0" rIns="0" bIns="0" rtlCol="0" anchor="ctr"/>
          <a:lstStyle/>
          <a:p>
            <a:pPr algn="ctr" indent="0" marL="0">
              <a:buNone/>
            </a:pPr>
            <a:r>
              <a:rPr lang="en-US" sz="1100" dirty="0">
                <a:solidFill>
                  <a:srgbClr val="14325C"/>
                </a:solidFill>
              </a:rPr>
              <a:t>▶</a:t>
            </a:r>
            <a:endParaRPr lang="en-US" sz="1100" dirty="0"/>
          </a:p>
        </p:txBody>
      </p:sp>
      <p:sp>
        <p:nvSpPr>
          <p:cNvPr id="29" name="Shape 26"/>
          <p:cNvSpPr/>
          <p:nvPr/>
        </p:nvSpPr>
        <p:spPr>
          <a:xfrm>
            <a:off x="2148840" y="3429000"/>
            <a:ext cx="1417320" cy="1005840"/>
          </a:xfrm>
          <a:prstGeom prst="roundRect">
            <a:avLst>
              <a:gd name="adj" fmla="val 7273"/>
            </a:avLst>
          </a:prstGeom>
          <a:solidFill>
            <a:srgbClr val="E4EBF5"/>
          </a:solidFill>
          <a:ln w="19050">
            <a:solidFill>
              <a:srgbClr val="14325C"/>
            </a:solidFill>
            <a:prstDash val="solid"/>
          </a:ln>
        </p:spPr>
      </p:sp>
      <p:sp>
        <p:nvSpPr>
          <p:cNvPr id="30" name="Text 27"/>
          <p:cNvSpPr txBox="1"/>
          <p:nvPr/>
        </p:nvSpPr>
        <p:spPr>
          <a:xfrm>
            <a:off x="2194560" y="3429000"/>
            <a:ext cx="1325880" cy="1005840"/>
          </a:xfrm>
          <a:prstGeom prst="rect">
            <a:avLst/>
          </a:prstGeom>
          <a:noFill/>
          <a:ln/>
        </p:spPr>
        <p:txBody>
          <a:bodyPr wrap="square" lIns="0" tIns="0" rIns="0" bIns="0" rtlCol="0" anchor="ctr"/>
          <a:lstStyle/>
          <a:p>
            <a:pPr algn="ctr" indent="0" marL="0">
              <a:buNone/>
            </a:pPr>
            <a:r>
              <a:rPr lang="en-US" sz="1400" b="1" dirty="0">
                <a:solidFill>
                  <a:srgbClr val="14325C"/>
                </a:solidFill>
                <a:latin typeface="Calibri" pitchFamily="34" charset="0"/>
                <a:ea typeface="Calibri" pitchFamily="34" charset="-122"/>
                <a:cs typeface="Calibri" pitchFamily="34" charset="-120"/>
              </a:rPr>
              <a:t>PyTorch model training</a:t>
            </a:r>
            <a:endParaRPr lang="en-US" sz="1400" dirty="0"/>
          </a:p>
        </p:txBody>
      </p:sp>
      <p:sp>
        <p:nvSpPr>
          <p:cNvPr id="31" name="Text 28"/>
          <p:cNvSpPr txBox="1"/>
          <p:nvPr/>
        </p:nvSpPr>
        <p:spPr>
          <a:xfrm>
            <a:off x="3547872" y="3749040"/>
            <a:ext cx="201168" cy="365760"/>
          </a:xfrm>
          <a:prstGeom prst="rect">
            <a:avLst/>
          </a:prstGeom>
          <a:noFill/>
          <a:ln/>
        </p:spPr>
        <p:txBody>
          <a:bodyPr wrap="square" lIns="0" tIns="0" rIns="0" bIns="0" rtlCol="0" anchor="ctr"/>
          <a:lstStyle/>
          <a:p>
            <a:pPr algn="ctr" indent="0" marL="0">
              <a:buNone/>
            </a:pPr>
            <a:r>
              <a:rPr lang="en-US" sz="1100" dirty="0">
                <a:solidFill>
                  <a:srgbClr val="14325C"/>
                </a:solidFill>
              </a:rPr>
              <a:t>▶</a:t>
            </a:r>
            <a:endParaRPr lang="en-US" sz="1100" dirty="0"/>
          </a:p>
        </p:txBody>
      </p:sp>
      <p:sp>
        <p:nvSpPr>
          <p:cNvPr id="32" name="Shape 29"/>
          <p:cNvSpPr/>
          <p:nvPr/>
        </p:nvSpPr>
        <p:spPr>
          <a:xfrm>
            <a:off x="3749040" y="3429000"/>
            <a:ext cx="1417320" cy="1005840"/>
          </a:xfrm>
          <a:prstGeom prst="roundRect">
            <a:avLst>
              <a:gd name="adj" fmla="val 7273"/>
            </a:avLst>
          </a:prstGeom>
          <a:solidFill>
            <a:srgbClr val="E4EBF5"/>
          </a:solidFill>
          <a:ln w="19050">
            <a:solidFill>
              <a:srgbClr val="14325C"/>
            </a:solidFill>
            <a:prstDash val="solid"/>
          </a:ln>
        </p:spPr>
      </p:sp>
      <p:sp>
        <p:nvSpPr>
          <p:cNvPr id="33" name="Text 30"/>
          <p:cNvSpPr txBox="1"/>
          <p:nvPr/>
        </p:nvSpPr>
        <p:spPr>
          <a:xfrm>
            <a:off x="3794760" y="3429000"/>
            <a:ext cx="1325880" cy="1005840"/>
          </a:xfrm>
          <a:prstGeom prst="rect">
            <a:avLst/>
          </a:prstGeom>
          <a:noFill/>
          <a:ln/>
        </p:spPr>
        <p:txBody>
          <a:bodyPr wrap="square" lIns="0" tIns="0" rIns="0" bIns="0" rtlCol="0" anchor="ctr"/>
          <a:lstStyle/>
          <a:p>
            <a:pPr algn="ctr" indent="0" marL="0">
              <a:buNone/>
            </a:pPr>
            <a:r>
              <a:rPr lang="en-US" sz="1400" b="1" dirty="0">
                <a:solidFill>
                  <a:srgbClr val="14325C"/>
                </a:solidFill>
                <a:latin typeface="Calibri" pitchFamily="34" charset="0"/>
                <a:ea typeface="Calibri" pitchFamily="34" charset="-122"/>
                <a:cs typeface="Calibri" pitchFamily="34" charset="-120"/>
              </a:rPr>
              <a:t>Trained model</a:t>
            </a:r>
            <a:endParaRPr lang="en-US" sz="1400" dirty="0"/>
          </a:p>
        </p:txBody>
      </p:sp>
      <p:sp>
        <p:nvSpPr>
          <p:cNvPr id="34" name="Text 31"/>
          <p:cNvSpPr txBox="1"/>
          <p:nvPr/>
        </p:nvSpPr>
        <p:spPr>
          <a:xfrm>
            <a:off x="5148072" y="3749040"/>
            <a:ext cx="201168" cy="365760"/>
          </a:xfrm>
          <a:prstGeom prst="rect">
            <a:avLst/>
          </a:prstGeom>
          <a:noFill/>
          <a:ln/>
        </p:spPr>
        <p:txBody>
          <a:bodyPr wrap="square" lIns="0" tIns="0" rIns="0" bIns="0" rtlCol="0" anchor="ctr"/>
          <a:lstStyle/>
          <a:p>
            <a:pPr algn="ctr" indent="0" marL="0">
              <a:buNone/>
            </a:pPr>
            <a:r>
              <a:rPr lang="en-US" sz="1100" dirty="0">
                <a:solidFill>
                  <a:srgbClr val="14325C"/>
                </a:solidFill>
              </a:rPr>
              <a:t>▶</a:t>
            </a:r>
            <a:endParaRPr lang="en-US" sz="1100" dirty="0"/>
          </a:p>
        </p:txBody>
      </p:sp>
      <p:sp>
        <p:nvSpPr>
          <p:cNvPr id="35" name="Shape 32"/>
          <p:cNvSpPr/>
          <p:nvPr/>
        </p:nvSpPr>
        <p:spPr>
          <a:xfrm>
            <a:off x="5349240" y="3429000"/>
            <a:ext cx="1417320" cy="1005840"/>
          </a:xfrm>
          <a:prstGeom prst="roundRect">
            <a:avLst>
              <a:gd name="adj" fmla="val 7273"/>
            </a:avLst>
          </a:prstGeom>
          <a:solidFill>
            <a:srgbClr val="E4EBF5"/>
          </a:solidFill>
          <a:ln w="19050">
            <a:solidFill>
              <a:srgbClr val="14325C"/>
            </a:solidFill>
            <a:prstDash val="solid"/>
          </a:ln>
        </p:spPr>
      </p:sp>
      <p:sp>
        <p:nvSpPr>
          <p:cNvPr id="36" name="Text 33"/>
          <p:cNvSpPr txBox="1"/>
          <p:nvPr/>
        </p:nvSpPr>
        <p:spPr>
          <a:xfrm>
            <a:off x="5394960" y="3429000"/>
            <a:ext cx="1325880" cy="1005840"/>
          </a:xfrm>
          <a:prstGeom prst="rect">
            <a:avLst/>
          </a:prstGeom>
          <a:noFill/>
          <a:ln/>
        </p:spPr>
        <p:txBody>
          <a:bodyPr wrap="square" lIns="0" tIns="0" rIns="0" bIns="0" rtlCol="0" anchor="ctr"/>
          <a:lstStyle/>
          <a:p>
            <a:pPr algn="ctr" indent="0" marL="0">
              <a:buNone/>
            </a:pPr>
            <a:r>
              <a:rPr lang="en-US" sz="1400" b="1" dirty="0">
                <a:solidFill>
                  <a:srgbClr val="14325C"/>
                </a:solidFill>
                <a:latin typeface="Calibri" pitchFamily="34" charset="0"/>
                <a:ea typeface="Calibri" pitchFamily="34" charset="-122"/>
                <a:cs typeface="Calibri" pitchFamily="34" charset="-120"/>
              </a:rPr>
              <a:t>OpenVINO conversion</a:t>
            </a:r>
            <a:endParaRPr lang="en-US" sz="1400" dirty="0"/>
          </a:p>
        </p:txBody>
      </p:sp>
      <p:sp>
        <p:nvSpPr>
          <p:cNvPr id="37" name="Text 34"/>
          <p:cNvSpPr txBox="1"/>
          <p:nvPr/>
        </p:nvSpPr>
        <p:spPr>
          <a:xfrm>
            <a:off x="6748272" y="3749040"/>
            <a:ext cx="201168" cy="365760"/>
          </a:xfrm>
          <a:prstGeom prst="rect">
            <a:avLst/>
          </a:prstGeom>
          <a:noFill/>
          <a:ln/>
        </p:spPr>
        <p:txBody>
          <a:bodyPr wrap="square" lIns="0" tIns="0" rIns="0" bIns="0" rtlCol="0" anchor="ctr"/>
          <a:lstStyle/>
          <a:p>
            <a:pPr algn="ctr" indent="0" marL="0">
              <a:buNone/>
            </a:pPr>
            <a:r>
              <a:rPr lang="en-US" sz="1100" dirty="0">
                <a:solidFill>
                  <a:srgbClr val="14325C"/>
                </a:solidFill>
              </a:rPr>
              <a:t>▶</a:t>
            </a:r>
            <a:endParaRPr lang="en-US" sz="1100" dirty="0"/>
          </a:p>
        </p:txBody>
      </p:sp>
      <p:sp>
        <p:nvSpPr>
          <p:cNvPr id="38" name="Shape 35"/>
          <p:cNvSpPr/>
          <p:nvPr/>
        </p:nvSpPr>
        <p:spPr>
          <a:xfrm>
            <a:off x="6949440" y="3429000"/>
            <a:ext cx="1417320" cy="1005840"/>
          </a:xfrm>
          <a:prstGeom prst="roundRect">
            <a:avLst>
              <a:gd name="adj" fmla="val 7273"/>
            </a:avLst>
          </a:prstGeom>
          <a:solidFill>
            <a:srgbClr val="E4EBF5"/>
          </a:solidFill>
          <a:ln w="19050">
            <a:solidFill>
              <a:srgbClr val="14325C"/>
            </a:solidFill>
            <a:prstDash val="solid"/>
          </a:ln>
        </p:spPr>
      </p:sp>
      <p:sp>
        <p:nvSpPr>
          <p:cNvPr id="39" name="Text 36"/>
          <p:cNvSpPr txBox="1"/>
          <p:nvPr/>
        </p:nvSpPr>
        <p:spPr>
          <a:xfrm>
            <a:off x="6995160" y="3429000"/>
            <a:ext cx="1325880" cy="1005840"/>
          </a:xfrm>
          <a:prstGeom prst="rect">
            <a:avLst/>
          </a:prstGeom>
          <a:noFill/>
          <a:ln/>
        </p:spPr>
        <p:txBody>
          <a:bodyPr wrap="square" lIns="0" tIns="0" rIns="0" bIns="0" rtlCol="0" anchor="ctr"/>
          <a:lstStyle/>
          <a:p>
            <a:pPr algn="ctr" indent="0" marL="0">
              <a:buNone/>
            </a:pPr>
            <a:r>
              <a:rPr lang="en-US" sz="1400" b="1" dirty="0">
                <a:solidFill>
                  <a:srgbClr val="14325C"/>
                </a:solidFill>
                <a:latin typeface="Calibri" pitchFamily="34" charset="0"/>
                <a:ea typeface="Calibri" pitchFamily="34" charset="-122"/>
                <a:cs typeface="Calibri" pitchFamily="34" charset="-120"/>
              </a:rPr>
              <a:t>CPU inference</a:t>
            </a:r>
            <a:endParaRPr lang="en-US" sz="1400" dirty="0"/>
          </a:p>
        </p:txBody>
      </p:sp>
      <p:sp>
        <p:nvSpPr>
          <p:cNvPr id="40" name="Shape 37"/>
          <p:cNvSpPr/>
          <p:nvPr/>
        </p:nvSpPr>
        <p:spPr>
          <a:xfrm>
            <a:off x="8778240" y="3429000"/>
            <a:ext cx="2834640" cy="1005840"/>
          </a:xfrm>
          <a:prstGeom prst="roundRect">
            <a:avLst>
              <a:gd name="adj" fmla="val 7273"/>
            </a:avLst>
          </a:prstGeom>
          <a:solidFill>
            <a:srgbClr val="FFF7ED"/>
          </a:solidFill>
          <a:ln w="19050">
            <a:solidFill>
              <a:srgbClr val="C8591B"/>
            </a:solidFill>
            <a:prstDash val="dash"/>
          </a:ln>
        </p:spPr>
      </p:sp>
      <p:sp>
        <p:nvSpPr>
          <p:cNvPr id="41" name="Text 38"/>
          <p:cNvSpPr txBox="1"/>
          <p:nvPr/>
        </p:nvSpPr>
        <p:spPr>
          <a:xfrm>
            <a:off x="8823960" y="3429000"/>
            <a:ext cx="2743200" cy="1005840"/>
          </a:xfrm>
          <a:prstGeom prst="rect">
            <a:avLst/>
          </a:prstGeom>
          <a:noFill/>
          <a:ln/>
        </p:spPr>
        <p:txBody>
          <a:bodyPr wrap="square" lIns="0" tIns="0" rIns="0" bIns="0" rtlCol="0" anchor="ctr"/>
          <a:lstStyle/>
          <a:p>
            <a:pPr algn="ctr" indent="0" marL="0">
              <a:buNone/>
            </a:pPr>
            <a:r>
              <a:rPr lang="en-US" sz="1400" b="1" dirty="0">
                <a:solidFill>
                  <a:srgbClr val="C8591B"/>
                </a:solidFill>
                <a:latin typeface="Calibri" pitchFamily="34" charset="0"/>
                <a:ea typeface="Calibri" pitchFamily="34" charset="-122"/>
                <a:cs typeface="Calibri" pitchFamily="34" charset="-120"/>
              </a:rPr>
              <a:t>Edge camera + edge hardware</a:t>
            </a:r>
            <a:endParaRPr lang="en-US" sz="1400" dirty="0"/>
          </a:p>
        </p:txBody>
      </p:sp>
      <p:sp>
        <p:nvSpPr>
          <p:cNvPr id="42" name="Text 39"/>
          <p:cNvSpPr txBox="1"/>
          <p:nvPr/>
        </p:nvSpPr>
        <p:spPr>
          <a:xfrm>
            <a:off x="8778240" y="3017520"/>
            <a:ext cx="2834640" cy="292608"/>
          </a:xfrm>
          <a:prstGeom prst="rect">
            <a:avLst/>
          </a:prstGeom>
          <a:solidFill>
            <a:srgbClr val="C8591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PROPOSED FUTURE DEPLOYMENT</a:t>
            </a:r>
            <a:endParaRPr lang="en-US" sz="1100" dirty="0"/>
          </a:p>
        </p:txBody>
      </p:sp>
      <p:sp>
        <p:nvSpPr>
          <p:cNvPr id="43" name="Shape 40"/>
          <p:cNvSpPr/>
          <p:nvPr/>
        </p:nvSpPr>
        <p:spPr>
          <a:xfrm>
            <a:off x="548640" y="5029200"/>
            <a:ext cx="274320" cy="228600"/>
          </a:xfrm>
          <a:prstGeom prst="rect">
            <a:avLst/>
          </a:prstGeom>
          <a:solidFill>
            <a:srgbClr val="E3F0E7"/>
          </a:solidFill>
          <a:ln w="19050">
            <a:solidFill>
              <a:srgbClr val="1B5E3A"/>
            </a:solidFill>
            <a:prstDash val="solid"/>
          </a:ln>
        </p:spPr>
      </p:sp>
      <p:sp>
        <p:nvSpPr>
          <p:cNvPr id="44" name="Text 41"/>
          <p:cNvSpPr txBox="1"/>
          <p:nvPr/>
        </p:nvSpPr>
        <p:spPr>
          <a:xfrm>
            <a:off x="914400" y="4992624"/>
            <a:ext cx="2286000" cy="2926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Implemented (solid)</a:t>
            </a:r>
            <a:endParaRPr lang="en-US" sz="1400" dirty="0"/>
          </a:p>
        </p:txBody>
      </p:sp>
      <p:sp>
        <p:nvSpPr>
          <p:cNvPr id="45" name="Shape 42"/>
          <p:cNvSpPr/>
          <p:nvPr/>
        </p:nvSpPr>
        <p:spPr>
          <a:xfrm>
            <a:off x="3291840" y="5029200"/>
            <a:ext cx="274320" cy="228600"/>
          </a:xfrm>
          <a:prstGeom prst="rect">
            <a:avLst/>
          </a:prstGeom>
          <a:solidFill>
            <a:srgbClr val="FFF7ED"/>
          </a:solidFill>
          <a:ln w="19050">
            <a:solidFill>
              <a:srgbClr val="C8591B"/>
            </a:solidFill>
            <a:prstDash val="dash"/>
          </a:ln>
        </p:spPr>
      </p:sp>
      <p:sp>
        <p:nvSpPr>
          <p:cNvPr id="46" name="Text 43"/>
          <p:cNvSpPr txBox="1"/>
          <p:nvPr/>
        </p:nvSpPr>
        <p:spPr>
          <a:xfrm>
            <a:off x="3657600" y="4992624"/>
            <a:ext cx="3657600" cy="292608"/>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Proposed, not implemented (dashed)</a:t>
            </a:r>
            <a:endParaRPr lang="en-US" sz="1400" dirty="0"/>
          </a:p>
        </p:txBody>
      </p:sp>
      <p:sp>
        <p:nvSpPr>
          <p:cNvPr id="47" name="Shape 44"/>
          <p:cNvSpPr/>
          <p:nvPr/>
        </p:nvSpPr>
        <p:spPr>
          <a:xfrm>
            <a:off x="548640" y="5486400"/>
            <a:ext cx="11064240" cy="731520"/>
          </a:xfrm>
          <a:prstGeom prst="roundRect">
            <a:avLst>
              <a:gd name="adj" fmla="val 10000"/>
            </a:avLst>
          </a:prstGeom>
          <a:solidFill>
            <a:srgbClr val="F4F8F5"/>
          </a:solidFill>
          <a:ln w="12700">
            <a:solidFill>
              <a:srgbClr val="F4F8F5"/>
            </a:solidFill>
            <a:prstDash val="solid"/>
          </a:ln>
        </p:spPr>
      </p:sp>
      <p:sp>
        <p:nvSpPr>
          <p:cNvPr id="48" name="Text 45"/>
          <p:cNvSpPr txBox="1"/>
          <p:nvPr/>
        </p:nvSpPr>
        <p:spPr>
          <a:xfrm>
            <a:off x="777240" y="5486400"/>
            <a:ext cx="10607040" cy="731520"/>
          </a:xfrm>
          <a:prstGeom prst="rect">
            <a:avLst/>
          </a:prstGeom>
          <a:noFill/>
          <a:ln/>
        </p:spPr>
        <p:txBody>
          <a:bodyPr wrap="square" lIns="0" tIns="0" rIns="0" bIns="0" rtlCol="0" anchor="ctr"/>
          <a:lstStyle/>
          <a:p>
            <a:pPr indent="0" marL="0">
              <a:buNone/>
            </a:pPr>
            <a:r>
              <a:rPr lang="en-US" sz="1500" dirty="0">
                <a:solidFill>
                  <a:srgbClr val="14325C"/>
                </a:solidFill>
                <a:latin typeface="Calibri" pitchFamily="34" charset="0"/>
                <a:ea typeface="Calibri" pitchFamily="34" charset="-122"/>
                <a:cs typeface="Calibri" pitchFamily="34" charset="-120"/>
              </a:rPr>
              <a:t>Training used the NVIDIA GPU; all reported inference benchmarks ran on the laptop CPU.</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Dataset Preparation</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280160"/>
                <a:gridCol w="1005840"/>
                <a:gridCol w="1371600"/>
                <a:gridCol w="1371600"/>
                <a:gridCol w="100584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Split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Healthy</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Early Blight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Late Blight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Training</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1,265</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800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1,527</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3,592</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Testing</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326</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382</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908</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1,591</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1,909</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4,500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r>
            </a:tbl>
          </a:graphicData>
        </a:graphic>
      </p:graphicFrame>
      <p:sp>
        <p:nvSpPr>
          <p:cNvPr id="5" name="Text 1"/>
          <p:cNvSpPr txBox="1"/>
          <p:nvPr/>
        </p:nvSpPr>
        <p:spPr>
          <a:xfrm>
            <a:off x="548640" y="3474720"/>
            <a:ext cx="603504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Source: PlantVillage, filtered to 3 tomato classes</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Validation: 15% held out from training images</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Preprocessing: RGB, 224 × 224, ImageNet normalisation</a:t>
            </a:r>
            <a:endParaRPr lang="en-US" sz="1500" dirty="0"/>
          </a:p>
        </p:txBody>
      </p:sp>
      <p:sp>
        <p:nvSpPr>
          <p:cNvPr id="6" name="Shape 2"/>
          <p:cNvSpPr/>
          <p:nvPr/>
        </p:nvSpPr>
        <p:spPr>
          <a:xfrm>
            <a:off x="548640" y="4846320"/>
            <a:ext cx="6035040" cy="1280160"/>
          </a:xfrm>
          <a:prstGeom prst="roundRect">
            <a:avLst>
              <a:gd name="adj" fmla="val 5714"/>
            </a:avLst>
          </a:prstGeom>
          <a:solidFill>
            <a:srgbClr val="FCEBDD"/>
          </a:solidFill>
          <a:ln w="12700">
            <a:solidFill>
              <a:srgbClr val="FCEBDD"/>
            </a:solidFill>
            <a:prstDash val="solid"/>
          </a:ln>
        </p:spPr>
      </p:sp>
      <p:pic>
        <p:nvPicPr>
          <p:cNvPr id="7" name="Image 0" descr="Warning">    </p:cNvPr>
          <p:cNvPicPr>
            <a:picLocks noChangeAspect="1"/>
          </p:cNvPicPr>
          <p:nvPr/>
        </p:nvPicPr>
        <p:blipFill>
          <a:blip r:embed="rId1"/>
          <a:stretch>
            <a:fillRect/>
          </a:stretch>
        </p:blipFill>
        <p:spPr>
          <a:xfrm>
            <a:off x="731520" y="5166360"/>
            <a:ext cx="457200" cy="457200"/>
          </a:xfrm>
          <a:prstGeom prst="rect">
            <a:avLst/>
          </a:prstGeom>
        </p:spPr>
      </p:pic>
      <p:sp>
        <p:nvSpPr>
          <p:cNvPr id="8" name="Text 3"/>
          <p:cNvSpPr txBox="1"/>
          <p:nvPr/>
        </p:nvSpPr>
        <p:spPr>
          <a:xfrm>
            <a:off x="1371600" y="4937760"/>
            <a:ext cx="5029200" cy="10972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PlantVillage images are controlled-environment images; they do not by themselves establish real-world field performance.</a:t>
            </a:r>
            <a:endParaRPr lang="en-US" sz="1400" dirty="0"/>
          </a:p>
        </p:txBody>
      </p:sp>
      <p:sp>
        <p:nvSpPr>
          <p:cNvPr id="9" name="Shape 4"/>
          <p:cNvSpPr/>
          <p:nvPr/>
        </p:nvSpPr>
        <p:spPr>
          <a:xfrm>
            <a:off x="6949440" y="1371600"/>
            <a:ext cx="4663440" cy="2377440"/>
          </a:xfrm>
          <a:prstGeom prst="rect">
            <a:avLst/>
          </a:prstGeom>
          <a:solidFill>
            <a:srgbClr val="FFF7ED"/>
          </a:solidFill>
          <a:ln w="19050">
            <a:solidFill>
              <a:srgbClr val="C8591B"/>
            </a:solidFill>
            <a:prstDash val="dash"/>
          </a:ln>
        </p:spPr>
      </p:sp>
      <p:sp>
        <p:nvSpPr>
          <p:cNvPr id="10" name="Text 5"/>
          <p:cNvSpPr txBox="1"/>
          <p:nvPr/>
        </p:nvSpPr>
        <p:spPr>
          <a:xfrm>
            <a:off x="7132320" y="1371600"/>
            <a:ext cx="4297680" cy="2377440"/>
          </a:xfrm>
          <a:prstGeom prst="rect">
            <a:avLst/>
          </a:prstGeom>
          <a:noFill/>
          <a:ln/>
        </p:spPr>
        <p:txBody>
          <a:bodyPr wrap="square" lIns="0" tIns="0" rIns="0" bIns="0" rtlCol="0" anchor="ctr"/>
          <a:lstStyle/>
          <a:p>
            <a:pPr algn="ctr" indent="0" marL="0">
              <a:buNone/>
            </a:pPr>
            <a:r>
              <a:rPr lang="en-US" sz="1400" b="1" dirty="0">
                <a:solidFill>
                  <a:srgbClr val="C8591B"/>
                </a:solidFill>
                <a:latin typeface="Calibri" pitchFamily="34" charset="0"/>
                <a:ea typeface="Calibri" pitchFamily="34" charset="-122"/>
                <a:cs typeface="Calibri" pitchFamily="34" charset="-120"/>
              </a:rPr>
              <a:t>PLACEHOLDER</a:t>
            </a:r>
            <a:endParaRPr lang="en-US" sz="1400" dirty="0"/>
          </a:p>
          <a:p>
            <a:pPr algn="ctr" indent="0" marL="0">
              <a:buNone/>
            </a:pPr>
            <a:r>
              <a:rPr lang="en-US" sz="1400" b="1" dirty="0">
                <a:solidFill>
                  <a:srgbClr val="C8591B"/>
                </a:solidFill>
                <a:latin typeface="Calibri" pitchFamily="34" charset="0"/>
                <a:ea typeface="Calibri" pitchFamily="34" charset="-122"/>
                <a:cs typeface="Calibri" pitchFamily="34" charset="-120"/>
              </a:rPr>
              <a:t>Insert sample PlantVillage images</a:t>
            </a:r>
            <a:endParaRPr lang="en-US" sz="1400" dirty="0"/>
          </a:p>
          <a:p>
            <a:pPr algn="ctr" indent="0" marL="0">
              <a:buNone/>
            </a:pPr>
            <a:r>
              <a:rPr lang="en-US" sz="1400" b="1" dirty="0">
                <a:solidFill>
                  <a:srgbClr val="C8591B"/>
                </a:solidFill>
                <a:latin typeface="Calibri" pitchFamily="34" charset="0"/>
                <a:ea typeface="Calibri" pitchFamily="34" charset="-122"/>
                <a:cs typeface="Calibri" pitchFamily="34" charset="-120"/>
              </a:rPr>
              <a:t>(Healthy, Early Blight, Late Blight)</a:t>
            </a:r>
            <a:endParaRPr lang="en-US" sz="1400" dirty="0"/>
          </a:p>
          <a:p>
            <a:pPr algn="ctr" indent="0" marL="0">
              <a:buNone/>
            </a:pPr>
            <a:r>
              <a:rPr lang="en-US" sz="1400" b="1" dirty="0">
                <a:solidFill>
                  <a:srgbClr val="C8591B"/>
                </a:solidFill>
                <a:latin typeface="Calibri" pitchFamily="34" charset="0"/>
                <a:ea typeface="Calibri" pitchFamily="34" charset="-122"/>
                <a:cs typeface="Calibri" pitchFamily="34" charset="-120"/>
              </a:rPr>
              <a:t>Report Figure 4 was not supplied</a:t>
            </a:r>
            <a:endParaRPr lang="en-US" sz="1400" dirty="0"/>
          </a:p>
        </p:txBody>
      </p:sp>
      <p:sp>
        <p:nvSpPr>
          <p:cNvPr id="11" name="Shape 6"/>
          <p:cNvSpPr/>
          <p:nvPr/>
        </p:nvSpPr>
        <p:spPr>
          <a:xfrm>
            <a:off x="6949440" y="3931920"/>
            <a:ext cx="4663440" cy="2194560"/>
          </a:xfrm>
          <a:prstGeom prst="rect">
            <a:avLst/>
          </a:prstGeom>
          <a:solidFill>
            <a:srgbClr val="FFF7ED"/>
          </a:solidFill>
          <a:ln w="19050">
            <a:solidFill>
              <a:srgbClr val="C8591B"/>
            </a:solidFill>
            <a:prstDash val="dash"/>
          </a:ln>
        </p:spPr>
      </p:sp>
      <p:sp>
        <p:nvSpPr>
          <p:cNvPr id="12" name="Text 7"/>
          <p:cNvSpPr txBox="1"/>
          <p:nvPr/>
        </p:nvSpPr>
        <p:spPr>
          <a:xfrm>
            <a:off x="7132320" y="3931920"/>
            <a:ext cx="4297680" cy="2194560"/>
          </a:xfrm>
          <a:prstGeom prst="rect">
            <a:avLst/>
          </a:prstGeom>
          <a:noFill/>
          <a:ln/>
        </p:spPr>
        <p:txBody>
          <a:bodyPr wrap="square" lIns="0" tIns="0" rIns="0" bIns="0" rtlCol="0" anchor="ctr"/>
          <a:lstStyle/>
          <a:p>
            <a:pPr algn="ctr" indent="0" marL="0">
              <a:buNone/>
            </a:pPr>
            <a:r>
              <a:rPr lang="en-US" sz="1400" b="1" dirty="0">
                <a:solidFill>
                  <a:srgbClr val="C8591B"/>
                </a:solidFill>
                <a:latin typeface="Calibri" pitchFamily="34" charset="0"/>
                <a:ea typeface="Calibri" pitchFamily="34" charset="-122"/>
                <a:cs typeface="Calibri" pitchFamily="34" charset="-120"/>
              </a:rPr>
              <a:t>PLACEHOLDER</a:t>
            </a:r>
            <a:endParaRPr lang="en-US" sz="1400" dirty="0"/>
          </a:p>
          <a:p>
            <a:pPr algn="ctr" indent="0" marL="0">
              <a:buNone/>
            </a:pPr>
            <a:r>
              <a:rPr lang="en-US" sz="1400" b="1" dirty="0">
                <a:solidFill>
                  <a:srgbClr val="C8591B"/>
                </a:solidFill>
                <a:latin typeface="Calibri" pitchFamily="34" charset="0"/>
                <a:ea typeface="Calibri" pitchFamily="34" charset="-122"/>
                <a:cs typeface="Calibri" pitchFamily="34" charset="-120"/>
              </a:rPr>
              <a:t>Insert dataset-preparation terminal output</a:t>
            </a:r>
            <a:endParaRPr lang="en-US" sz="1400" dirty="0"/>
          </a:p>
          <a:p>
            <a:pPr algn="ctr" indent="0" marL="0">
              <a:buNone/>
            </a:pPr>
            <a:r>
              <a:rPr lang="en-US" sz="1400" b="1" dirty="0">
                <a:solidFill>
                  <a:srgbClr val="C8591B"/>
                </a:solidFill>
                <a:latin typeface="Calibri" pitchFamily="34" charset="0"/>
                <a:ea typeface="Calibri" pitchFamily="34" charset="-122"/>
                <a:cs typeface="Calibri" pitchFamily="34" charset="-120"/>
              </a:rPr>
              <a:t>(not present in the report)</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Model Selection and Training</a:t>
            </a:r>
            <a:endParaRPr lang="en-US" sz="3200" dirty="0"/>
          </a:p>
        </p:txBody>
      </p:sp>
      <p:sp>
        <p:nvSpPr>
          <p:cNvPr id="4" name="Shape 1"/>
          <p:cNvSpPr/>
          <p:nvPr/>
        </p:nvSpPr>
        <p:spPr>
          <a:xfrm>
            <a:off x="548640" y="1371600"/>
            <a:ext cx="3566160" cy="1051560"/>
          </a:xfrm>
          <a:prstGeom prst="roundRect">
            <a:avLst>
              <a:gd name="adj" fmla="val 6957"/>
            </a:avLst>
          </a:prstGeom>
          <a:solidFill>
            <a:srgbClr val="E3F0E7"/>
          </a:solidFill>
          <a:ln w="12700">
            <a:solidFill>
              <a:srgbClr val="E3F0E7"/>
            </a:solidFill>
            <a:prstDash val="solid"/>
          </a:ln>
        </p:spPr>
      </p:sp>
      <p:sp>
        <p:nvSpPr>
          <p:cNvPr id="5" name="Text 2"/>
          <p:cNvSpPr txBox="1"/>
          <p:nvPr/>
        </p:nvSpPr>
        <p:spPr>
          <a:xfrm>
            <a:off x="731520" y="1481328"/>
            <a:ext cx="3200400" cy="2743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Model</a:t>
            </a:r>
            <a:endParaRPr lang="en-US" sz="1200" dirty="0"/>
          </a:p>
        </p:txBody>
      </p:sp>
      <p:sp>
        <p:nvSpPr>
          <p:cNvPr id="6" name="Text 3"/>
          <p:cNvSpPr txBox="1"/>
          <p:nvPr/>
        </p:nvSpPr>
        <p:spPr>
          <a:xfrm>
            <a:off x="731520" y="1783080"/>
            <a:ext cx="3200400" cy="548640"/>
          </a:xfrm>
          <a:prstGeom prst="rect">
            <a:avLst/>
          </a:prstGeom>
          <a:noFill/>
          <a:ln/>
        </p:spPr>
        <p:txBody>
          <a:bodyPr wrap="square" lIns="0" tIns="0" rIns="0" bIns="0" rtlCol="0" anchor="t"/>
          <a:lstStyle/>
          <a:p>
            <a:pPr indent="0" marL="0">
              <a:buNone/>
            </a:pPr>
            <a:r>
              <a:rPr lang="en-US" sz="1700" b="1" dirty="0">
                <a:solidFill>
                  <a:srgbClr val="1B5E3A"/>
                </a:solidFill>
                <a:latin typeface="Calibri" pitchFamily="34" charset="0"/>
                <a:ea typeface="Calibri" pitchFamily="34" charset="-122"/>
                <a:cs typeface="Calibri" pitchFamily="34" charset="-120"/>
              </a:rPr>
              <a:t>MobileNetV3-Small</a:t>
            </a:r>
            <a:endParaRPr lang="en-US" sz="1700" dirty="0"/>
          </a:p>
        </p:txBody>
      </p:sp>
      <p:sp>
        <p:nvSpPr>
          <p:cNvPr id="7" name="Shape 4"/>
          <p:cNvSpPr/>
          <p:nvPr/>
        </p:nvSpPr>
        <p:spPr>
          <a:xfrm>
            <a:off x="4297680" y="1371600"/>
            <a:ext cx="3566160" cy="1051560"/>
          </a:xfrm>
          <a:prstGeom prst="roundRect">
            <a:avLst>
              <a:gd name="adj" fmla="val 6957"/>
            </a:avLst>
          </a:prstGeom>
          <a:solidFill>
            <a:srgbClr val="E4EBF5"/>
          </a:solidFill>
          <a:ln w="12700">
            <a:solidFill>
              <a:srgbClr val="E4EBF5"/>
            </a:solidFill>
            <a:prstDash val="solid"/>
          </a:ln>
        </p:spPr>
      </p:sp>
      <p:sp>
        <p:nvSpPr>
          <p:cNvPr id="8" name="Text 5"/>
          <p:cNvSpPr txBox="1"/>
          <p:nvPr/>
        </p:nvSpPr>
        <p:spPr>
          <a:xfrm>
            <a:off x="4480560" y="1481328"/>
            <a:ext cx="3200400" cy="2743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Weights</a:t>
            </a:r>
            <a:endParaRPr lang="en-US" sz="1200" dirty="0"/>
          </a:p>
        </p:txBody>
      </p:sp>
      <p:sp>
        <p:nvSpPr>
          <p:cNvPr id="9" name="Text 6"/>
          <p:cNvSpPr txBox="1"/>
          <p:nvPr/>
        </p:nvSpPr>
        <p:spPr>
          <a:xfrm>
            <a:off x="4480560" y="1783080"/>
            <a:ext cx="3200400" cy="548640"/>
          </a:xfrm>
          <a:prstGeom prst="rect">
            <a:avLst/>
          </a:prstGeom>
          <a:noFill/>
          <a:ln/>
        </p:spPr>
        <p:txBody>
          <a:bodyPr wrap="square" lIns="0" tIns="0" rIns="0" bIns="0" rtlCol="0" anchor="t"/>
          <a:lstStyle/>
          <a:p>
            <a:pPr indent="0" marL="0">
              <a:buNone/>
            </a:pPr>
            <a:r>
              <a:rPr lang="en-US" sz="1700" b="1" dirty="0">
                <a:solidFill>
                  <a:srgbClr val="14325C"/>
                </a:solidFill>
                <a:latin typeface="Calibri" pitchFamily="34" charset="0"/>
                <a:ea typeface="Calibri" pitchFamily="34" charset="-122"/>
                <a:cs typeface="Calibri" pitchFamily="34" charset="-120"/>
              </a:rPr>
              <a:t>Pretrained (transfer learning)</a:t>
            </a:r>
            <a:endParaRPr lang="en-US" sz="1700" dirty="0"/>
          </a:p>
        </p:txBody>
      </p:sp>
      <p:sp>
        <p:nvSpPr>
          <p:cNvPr id="10" name="Shape 7"/>
          <p:cNvSpPr/>
          <p:nvPr/>
        </p:nvSpPr>
        <p:spPr>
          <a:xfrm>
            <a:off x="8046720" y="1371600"/>
            <a:ext cx="3566160" cy="1051560"/>
          </a:xfrm>
          <a:prstGeom prst="roundRect">
            <a:avLst>
              <a:gd name="adj" fmla="val 6957"/>
            </a:avLst>
          </a:prstGeom>
          <a:solidFill>
            <a:srgbClr val="E3F0E7"/>
          </a:solidFill>
          <a:ln w="12700">
            <a:solidFill>
              <a:srgbClr val="E3F0E7"/>
            </a:solidFill>
            <a:prstDash val="solid"/>
          </a:ln>
        </p:spPr>
      </p:sp>
      <p:sp>
        <p:nvSpPr>
          <p:cNvPr id="11" name="Text 8"/>
          <p:cNvSpPr txBox="1"/>
          <p:nvPr/>
        </p:nvSpPr>
        <p:spPr>
          <a:xfrm>
            <a:off x="8229600" y="1481328"/>
            <a:ext cx="3200400" cy="2743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Input size</a:t>
            </a:r>
            <a:endParaRPr lang="en-US" sz="1200" dirty="0"/>
          </a:p>
        </p:txBody>
      </p:sp>
      <p:sp>
        <p:nvSpPr>
          <p:cNvPr id="12" name="Text 9"/>
          <p:cNvSpPr txBox="1"/>
          <p:nvPr/>
        </p:nvSpPr>
        <p:spPr>
          <a:xfrm>
            <a:off x="8229600" y="1783080"/>
            <a:ext cx="3200400" cy="548640"/>
          </a:xfrm>
          <a:prstGeom prst="rect">
            <a:avLst/>
          </a:prstGeom>
          <a:noFill/>
          <a:ln/>
        </p:spPr>
        <p:txBody>
          <a:bodyPr wrap="square" lIns="0" tIns="0" rIns="0" bIns="0" rtlCol="0" anchor="t"/>
          <a:lstStyle/>
          <a:p>
            <a:pPr indent="0" marL="0">
              <a:buNone/>
            </a:pPr>
            <a:r>
              <a:rPr lang="en-US" sz="1700" b="1" dirty="0">
                <a:solidFill>
                  <a:srgbClr val="1B5E3A"/>
                </a:solidFill>
                <a:latin typeface="Calibri" pitchFamily="34" charset="0"/>
                <a:ea typeface="Calibri" pitchFamily="34" charset="-122"/>
                <a:cs typeface="Calibri" pitchFamily="34" charset="-120"/>
              </a:rPr>
              <a:t>224 × 224 pixels</a:t>
            </a:r>
            <a:endParaRPr lang="en-US" sz="1700" dirty="0"/>
          </a:p>
        </p:txBody>
      </p:sp>
      <p:sp>
        <p:nvSpPr>
          <p:cNvPr id="13" name="Shape 10"/>
          <p:cNvSpPr/>
          <p:nvPr/>
        </p:nvSpPr>
        <p:spPr>
          <a:xfrm>
            <a:off x="548640" y="2606040"/>
            <a:ext cx="3566160" cy="1051560"/>
          </a:xfrm>
          <a:prstGeom prst="roundRect">
            <a:avLst>
              <a:gd name="adj" fmla="val 6957"/>
            </a:avLst>
          </a:prstGeom>
          <a:solidFill>
            <a:srgbClr val="E4EBF5"/>
          </a:solidFill>
          <a:ln w="12700">
            <a:solidFill>
              <a:srgbClr val="E4EBF5"/>
            </a:solidFill>
            <a:prstDash val="solid"/>
          </a:ln>
        </p:spPr>
      </p:sp>
      <p:sp>
        <p:nvSpPr>
          <p:cNvPr id="14" name="Text 11"/>
          <p:cNvSpPr txBox="1"/>
          <p:nvPr/>
        </p:nvSpPr>
        <p:spPr>
          <a:xfrm>
            <a:off x="731520" y="2715768"/>
            <a:ext cx="3200400" cy="2743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Batch size</a:t>
            </a:r>
            <a:endParaRPr lang="en-US" sz="1200" dirty="0"/>
          </a:p>
        </p:txBody>
      </p:sp>
      <p:sp>
        <p:nvSpPr>
          <p:cNvPr id="15" name="Text 12"/>
          <p:cNvSpPr txBox="1"/>
          <p:nvPr/>
        </p:nvSpPr>
        <p:spPr>
          <a:xfrm>
            <a:off x="731520" y="3017520"/>
            <a:ext cx="3200400" cy="548640"/>
          </a:xfrm>
          <a:prstGeom prst="rect">
            <a:avLst/>
          </a:prstGeom>
          <a:noFill/>
          <a:ln/>
        </p:spPr>
        <p:txBody>
          <a:bodyPr wrap="square" lIns="0" tIns="0" rIns="0" bIns="0" rtlCol="0" anchor="t"/>
          <a:lstStyle/>
          <a:p>
            <a:pPr indent="0" marL="0">
              <a:buNone/>
            </a:pPr>
            <a:r>
              <a:rPr lang="en-US" sz="1700" b="1" dirty="0">
                <a:solidFill>
                  <a:srgbClr val="14325C"/>
                </a:solidFill>
                <a:latin typeface="Calibri" pitchFamily="34" charset="0"/>
                <a:ea typeface="Calibri" pitchFamily="34" charset="-122"/>
                <a:cs typeface="Calibri" pitchFamily="34" charset="-120"/>
              </a:rPr>
              <a:t>32</a:t>
            </a:r>
            <a:endParaRPr lang="en-US" sz="1700" dirty="0"/>
          </a:p>
        </p:txBody>
      </p:sp>
      <p:sp>
        <p:nvSpPr>
          <p:cNvPr id="16" name="Shape 13"/>
          <p:cNvSpPr/>
          <p:nvPr/>
        </p:nvSpPr>
        <p:spPr>
          <a:xfrm>
            <a:off x="4297680" y="2606040"/>
            <a:ext cx="3566160" cy="1051560"/>
          </a:xfrm>
          <a:prstGeom prst="roundRect">
            <a:avLst>
              <a:gd name="adj" fmla="val 6957"/>
            </a:avLst>
          </a:prstGeom>
          <a:solidFill>
            <a:srgbClr val="E3F0E7"/>
          </a:solidFill>
          <a:ln w="12700">
            <a:solidFill>
              <a:srgbClr val="E3F0E7"/>
            </a:solidFill>
            <a:prstDash val="solid"/>
          </a:ln>
        </p:spPr>
      </p:sp>
      <p:sp>
        <p:nvSpPr>
          <p:cNvPr id="17" name="Text 14"/>
          <p:cNvSpPr txBox="1"/>
          <p:nvPr/>
        </p:nvSpPr>
        <p:spPr>
          <a:xfrm>
            <a:off x="4480560" y="2715768"/>
            <a:ext cx="3200400" cy="2743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Epochs</a:t>
            </a:r>
            <a:endParaRPr lang="en-US" sz="1200" dirty="0"/>
          </a:p>
        </p:txBody>
      </p:sp>
      <p:sp>
        <p:nvSpPr>
          <p:cNvPr id="18" name="Text 15"/>
          <p:cNvSpPr txBox="1"/>
          <p:nvPr/>
        </p:nvSpPr>
        <p:spPr>
          <a:xfrm>
            <a:off x="4480560" y="3017520"/>
            <a:ext cx="3200400" cy="548640"/>
          </a:xfrm>
          <a:prstGeom prst="rect">
            <a:avLst/>
          </a:prstGeom>
          <a:noFill/>
          <a:ln/>
        </p:spPr>
        <p:txBody>
          <a:bodyPr wrap="square" lIns="0" tIns="0" rIns="0" bIns="0" rtlCol="0" anchor="t"/>
          <a:lstStyle/>
          <a:p>
            <a:pPr indent="0" marL="0">
              <a:buNone/>
            </a:pPr>
            <a:r>
              <a:rPr lang="en-US" sz="1700" b="1" dirty="0">
                <a:solidFill>
                  <a:srgbClr val="1B5E3A"/>
                </a:solidFill>
                <a:latin typeface="Calibri" pitchFamily="34" charset="0"/>
                <a:ea typeface="Calibri" pitchFamily="34" charset="-122"/>
                <a:cs typeface="Calibri" pitchFamily="34" charset="-120"/>
              </a:rPr>
              <a:t>5</a:t>
            </a:r>
            <a:endParaRPr lang="en-US" sz="1700" dirty="0"/>
          </a:p>
        </p:txBody>
      </p:sp>
      <p:sp>
        <p:nvSpPr>
          <p:cNvPr id="19" name="Shape 16"/>
          <p:cNvSpPr/>
          <p:nvPr/>
        </p:nvSpPr>
        <p:spPr>
          <a:xfrm>
            <a:off x="8046720" y="2606040"/>
            <a:ext cx="3566160" cy="1051560"/>
          </a:xfrm>
          <a:prstGeom prst="roundRect">
            <a:avLst>
              <a:gd name="adj" fmla="val 6957"/>
            </a:avLst>
          </a:prstGeom>
          <a:solidFill>
            <a:srgbClr val="E4EBF5"/>
          </a:solidFill>
          <a:ln w="12700">
            <a:solidFill>
              <a:srgbClr val="E4EBF5"/>
            </a:solidFill>
            <a:prstDash val="solid"/>
          </a:ln>
        </p:spPr>
      </p:sp>
      <p:sp>
        <p:nvSpPr>
          <p:cNvPr id="20" name="Text 17"/>
          <p:cNvSpPr txBox="1"/>
          <p:nvPr/>
        </p:nvSpPr>
        <p:spPr>
          <a:xfrm>
            <a:off x="8229600" y="2715768"/>
            <a:ext cx="3200400" cy="2743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Training device</a:t>
            </a:r>
            <a:endParaRPr lang="en-US" sz="1200" dirty="0"/>
          </a:p>
        </p:txBody>
      </p:sp>
      <p:sp>
        <p:nvSpPr>
          <p:cNvPr id="21" name="Text 18"/>
          <p:cNvSpPr txBox="1"/>
          <p:nvPr/>
        </p:nvSpPr>
        <p:spPr>
          <a:xfrm>
            <a:off x="8229600" y="3017520"/>
            <a:ext cx="3200400" cy="548640"/>
          </a:xfrm>
          <a:prstGeom prst="rect">
            <a:avLst/>
          </a:prstGeom>
          <a:noFill/>
          <a:ln/>
        </p:spPr>
        <p:txBody>
          <a:bodyPr wrap="square" lIns="0" tIns="0" rIns="0" bIns="0" rtlCol="0" anchor="t"/>
          <a:lstStyle/>
          <a:p>
            <a:pPr indent="0" marL="0">
              <a:buNone/>
            </a:pPr>
            <a:r>
              <a:rPr lang="en-US" sz="1700" b="1" dirty="0">
                <a:solidFill>
                  <a:srgbClr val="14325C"/>
                </a:solidFill>
                <a:latin typeface="Calibri" pitchFamily="34" charset="0"/>
                <a:ea typeface="Calibri" pitchFamily="34" charset="-122"/>
                <a:cs typeface="Calibri" pitchFamily="34" charset="-120"/>
              </a:rPr>
              <a:t>NVIDIA GeForce RTX 3050 Laptop GPU</a:t>
            </a:r>
            <a:endParaRPr lang="en-US" sz="1700" dirty="0"/>
          </a:p>
        </p:txBody>
      </p:sp>
      <p:sp>
        <p:nvSpPr>
          <p:cNvPr id="22" name="Text 19"/>
          <p:cNvSpPr txBox="1"/>
          <p:nvPr/>
        </p:nvSpPr>
        <p:spPr>
          <a:xfrm>
            <a:off x="548640" y="4023360"/>
            <a:ext cx="4572000" cy="320040"/>
          </a:xfrm>
          <a:prstGeom prst="rect">
            <a:avLst/>
          </a:prstGeom>
          <a:noFill/>
          <a:ln/>
        </p:spPr>
        <p:txBody>
          <a:bodyPr wrap="square" lIns="0" tIns="0" rIns="0" bIns="0" rtlCol="0" anchor="t"/>
          <a:lstStyle/>
          <a:p>
            <a:pPr indent="0" marL="0">
              <a:buNone/>
            </a:pPr>
            <a:r>
              <a:rPr lang="en-US" sz="1800" b="1" dirty="0">
                <a:solidFill>
                  <a:srgbClr val="14325C"/>
                </a:solidFill>
                <a:latin typeface="Calibri" pitchFamily="34" charset="0"/>
                <a:ea typeface="Calibri" pitchFamily="34" charset="-122"/>
                <a:cs typeface="Calibri" pitchFamily="34" charset="-120"/>
              </a:rPr>
              <a:t>Training pipeline</a:t>
            </a:r>
            <a:endParaRPr lang="en-US" sz="1800" dirty="0"/>
          </a:p>
        </p:txBody>
      </p:sp>
      <p:sp>
        <p:nvSpPr>
          <p:cNvPr id="23" name="Shape 20"/>
          <p:cNvSpPr/>
          <p:nvPr/>
        </p:nvSpPr>
        <p:spPr>
          <a:xfrm>
            <a:off x="548640" y="4526280"/>
            <a:ext cx="2011680" cy="1188720"/>
          </a:xfrm>
          <a:prstGeom prst="roundRect">
            <a:avLst>
              <a:gd name="adj" fmla="val 6154"/>
            </a:avLst>
          </a:prstGeom>
          <a:solidFill>
            <a:srgbClr val="F4F8F5"/>
          </a:solidFill>
          <a:ln w="15875">
            <a:solidFill>
              <a:srgbClr val="C9D3CC"/>
            </a:solidFill>
            <a:prstDash val="solid"/>
          </a:ln>
        </p:spPr>
      </p:sp>
      <p:sp>
        <p:nvSpPr>
          <p:cNvPr id="24" name="Text 21"/>
          <p:cNvSpPr txBox="1"/>
          <p:nvPr/>
        </p:nvSpPr>
        <p:spPr>
          <a:xfrm>
            <a:off x="640080" y="4526280"/>
            <a:ext cx="1828800" cy="118872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Load and preprocess images</a:t>
            </a:r>
            <a:endParaRPr lang="en-US" sz="1500" dirty="0"/>
          </a:p>
        </p:txBody>
      </p:sp>
      <p:sp>
        <p:nvSpPr>
          <p:cNvPr id="25" name="Text 22"/>
          <p:cNvSpPr txBox="1"/>
          <p:nvPr/>
        </p:nvSpPr>
        <p:spPr>
          <a:xfrm>
            <a:off x="2560320" y="4937760"/>
            <a:ext cx="228600"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26" name="Shape 23"/>
          <p:cNvSpPr/>
          <p:nvPr/>
        </p:nvSpPr>
        <p:spPr>
          <a:xfrm>
            <a:off x="2788920" y="4526280"/>
            <a:ext cx="2011680" cy="1188720"/>
          </a:xfrm>
          <a:prstGeom prst="roundRect">
            <a:avLst>
              <a:gd name="adj" fmla="val 6154"/>
            </a:avLst>
          </a:prstGeom>
          <a:solidFill>
            <a:srgbClr val="F4F8F5"/>
          </a:solidFill>
          <a:ln w="15875">
            <a:solidFill>
              <a:srgbClr val="C9D3CC"/>
            </a:solidFill>
            <a:prstDash val="solid"/>
          </a:ln>
        </p:spPr>
      </p:sp>
      <p:sp>
        <p:nvSpPr>
          <p:cNvPr id="27" name="Text 24"/>
          <p:cNvSpPr txBox="1"/>
          <p:nvPr/>
        </p:nvSpPr>
        <p:spPr>
          <a:xfrm>
            <a:off x="2880360" y="4526280"/>
            <a:ext cx="1828800" cy="118872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Fine-tune pretrained network</a:t>
            </a:r>
            <a:endParaRPr lang="en-US" sz="1500" dirty="0"/>
          </a:p>
        </p:txBody>
      </p:sp>
      <p:sp>
        <p:nvSpPr>
          <p:cNvPr id="28" name="Text 25"/>
          <p:cNvSpPr txBox="1"/>
          <p:nvPr/>
        </p:nvSpPr>
        <p:spPr>
          <a:xfrm>
            <a:off x="4800600" y="4937760"/>
            <a:ext cx="228600"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29" name="Shape 26"/>
          <p:cNvSpPr/>
          <p:nvPr/>
        </p:nvSpPr>
        <p:spPr>
          <a:xfrm>
            <a:off x="5029200" y="4526280"/>
            <a:ext cx="2011680" cy="1188720"/>
          </a:xfrm>
          <a:prstGeom prst="roundRect">
            <a:avLst>
              <a:gd name="adj" fmla="val 6154"/>
            </a:avLst>
          </a:prstGeom>
          <a:solidFill>
            <a:srgbClr val="F4F8F5"/>
          </a:solidFill>
          <a:ln w="15875">
            <a:solidFill>
              <a:srgbClr val="C9D3CC"/>
            </a:solidFill>
            <a:prstDash val="solid"/>
          </a:ln>
        </p:spPr>
      </p:sp>
      <p:sp>
        <p:nvSpPr>
          <p:cNvPr id="30" name="Text 27"/>
          <p:cNvSpPr txBox="1"/>
          <p:nvPr/>
        </p:nvSpPr>
        <p:spPr>
          <a:xfrm>
            <a:off x="5120640" y="4526280"/>
            <a:ext cx="1828800" cy="118872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Validate each epoch</a:t>
            </a:r>
            <a:endParaRPr lang="en-US" sz="1500" dirty="0"/>
          </a:p>
        </p:txBody>
      </p:sp>
      <p:sp>
        <p:nvSpPr>
          <p:cNvPr id="31" name="Text 28"/>
          <p:cNvSpPr txBox="1"/>
          <p:nvPr/>
        </p:nvSpPr>
        <p:spPr>
          <a:xfrm>
            <a:off x="7040880" y="4937760"/>
            <a:ext cx="228600"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32" name="Shape 29"/>
          <p:cNvSpPr/>
          <p:nvPr/>
        </p:nvSpPr>
        <p:spPr>
          <a:xfrm>
            <a:off x="7269480" y="4526280"/>
            <a:ext cx="2011680" cy="1188720"/>
          </a:xfrm>
          <a:prstGeom prst="roundRect">
            <a:avLst>
              <a:gd name="adj" fmla="val 6154"/>
            </a:avLst>
          </a:prstGeom>
          <a:solidFill>
            <a:srgbClr val="E3F0E7"/>
          </a:solidFill>
          <a:ln w="15875">
            <a:solidFill>
              <a:srgbClr val="1B5E3A"/>
            </a:solidFill>
            <a:prstDash val="solid"/>
          </a:ln>
        </p:spPr>
      </p:sp>
      <p:sp>
        <p:nvSpPr>
          <p:cNvPr id="33" name="Text 30"/>
          <p:cNvSpPr txBox="1"/>
          <p:nvPr/>
        </p:nvSpPr>
        <p:spPr>
          <a:xfrm>
            <a:off x="7360920" y="4526280"/>
            <a:ext cx="1828800" cy="118872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Keep best validation checkpoint</a:t>
            </a:r>
            <a:endParaRPr lang="en-US" sz="1500" dirty="0"/>
          </a:p>
        </p:txBody>
      </p:sp>
      <p:sp>
        <p:nvSpPr>
          <p:cNvPr id="34" name="Text 31"/>
          <p:cNvSpPr txBox="1"/>
          <p:nvPr/>
        </p:nvSpPr>
        <p:spPr>
          <a:xfrm>
            <a:off x="9281160" y="4937760"/>
            <a:ext cx="228600" cy="365760"/>
          </a:xfrm>
          <a:prstGeom prst="rect">
            <a:avLst/>
          </a:prstGeom>
          <a:noFill/>
          <a:ln/>
        </p:spPr>
        <p:txBody>
          <a:bodyPr wrap="square" lIns="0" tIns="0" rIns="0" bIns="0" rtlCol="0" anchor="ctr"/>
          <a:lstStyle/>
          <a:p>
            <a:pPr algn="ctr" indent="0" marL="0">
              <a:buNone/>
            </a:pPr>
            <a:r>
              <a:rPr lang="en-US" sz="1100" dirty="0">
                <a:solidFill>
                  <a:srgbClr val="1B5E3A"/>
                </a:solidFill>
              </a:rPr>
              <a:t>▶</a:t>
            </a:r>
            <a:endParaRPr lang="en-US" sz="1100" dirty="0"/>
          </a:p>
        </p:txBody>
      </p:sp>
      <p:sp>
        <p:nvSpPr>
          <p:cNvPr id="35" name="Shape 32"/>
          <p:cNvSpPr/>
          <p:nvPr/>
        </p:nvSpPr>
        <p:spPr>
          <a:xfrm>
            <a:off x="9509760" y="4526280"/>
            <a:ext cx="2011680" cy="1188720"/>
          </a:xfrm>
          <a:prstGeom prst="roundRect">
            <a:avLst>
              <a:gd name="adj" fmla="val 6154"/>
            </a:avLst>
          </a:prstGeom>
          <a:solidFill>
            <a:srgbClr val="F4F8F5"/>
          </a:solidFill>
          <a:ln w="15875">
            <a:solidFill>
              <a:srgbClr val="C9D3CC"/>
            </a:solidFill>
            <a:prstDash val="solid"/>
          </a:ln>
        </p:spPr>
      </p:sp>
      <p:sp>
        <p:nvSpPr>
          <p:cNvPr id="36" name="Text 33"/>
          <p:cNvSpPr txBox="1"/>
          <p:nvPr/>
        </p:nvSpPr>
        <p:spPr>
          <a:xfrm>
            <a:off x="9601200" y="4526280"/>
            <a:ext cx="1828800" cy="1188720"/>
          </a:xfrm>
          <a:prstGeom prst="rect">
            <a:avLst/>
          </a:prstGeom>
          <a:noFill/>
          <a:ln/>
        </p:spPr>
        <p:txBody>
          <a:bodyPr wrap="square" lIns="0" tIns="0" rIns="0" bIns="0" rtlCol="0" anchor="ctr"/>
          <a:lstStyle/>
          <a:p>
            <a:pPr algn="ctr" indent="0" marL="0">
              <a:buNone/>
            </a:pPr>
            <a:r>
              <a:rPr lang="en-US" sz="1500" b="1" dirty="0">
                <a:solidFill>
                  <a:srgbClr val="1F2933"/>
                </a:solidFill>
                <a:latin typeface="Calibri" pitchFamily="34" charset="0"/>
                <a:ea typeface="Calibri" pitchFamily="34" charset="-122"/>
                <a:cs typeface="Calibri" pitchFamily="34" charset="-120"/>
              </a:rPr>
              <a:t>Evaluate on 908 test images</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Training Results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120640" cy="914400"/>
        </p:xfrm>
        <a:graphic>
          <a:graphicData uri="http://schemas.openxmlformats.org/drawingml/2006/table">
            <a:tbl>
              <a:tblPr/>
              <a:tblGrid>
                <a:gridCol w="914400"/>
                <a:gridCol w="2103120"/>
                <a:gridCol w="210312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Epoch</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Training accuracy</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Validation accuracy</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r>
              <a:tr h="438912">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92.67%</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92.94%</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38912">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98.36%</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97.03%</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38912">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98.46%</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98.88%</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r>
              <a:tr h="438912">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98.95%</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98.33%</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38912">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99.21%</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96.84%</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bl>
          </a:graphicData>
        </a:graphic>
      </p:graphicFrame>
      <p:sp>
        <p:nvSpPr>
          <p:cNvPr id="5" name="Shape 1"/>
          <p:cNvSpPr/>
          <p:nvPr/>
        </p:nvSpPr>
        <p:spPr>
          <a:xfrm>
            <a:off x="548640" y="4297680"/>
            <a:ext cx="5120640" cy="1280160"/>
          </a:xfrm>
          <a:prstGeom prst="roundRect">
            <a:avLst>
              <a:gd name="adj" fmla="val 5714"/>
            </a:avLst>
          </a:prstGeom>
          <a:solidFill>
            <a:srgbClr val="E3F0E7"/>
          </a:solidFill>
          <a:ln w="12700">
            <a:solidFill>
              <a:srgbClr val="E3F0E7"/>
            </a:solidFill>
            <a:prstDash val="solid"/>
          </a:ln>
        </p:spPr>
      </p:sp>
      <p:sp>
        <p:nvSpPr>
          <p:cNvPr id="6" name="Text 2"/>
          <p:cNvSpPr txBox="1"/>
          <p:nvPr/>
        </p:nvSpPr>
        <p:spPr>
          <a:xfrm>
            <a:off x="777240" y="4297680"/>
            <a:ext cx="4663440" cy="128016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Best validation accuracy</a:t>
            </a:r>
            <a:endParaRPr lang="en-US" sz="1400" dirty="0"/>
          </a:p>
          <a:p>
            <a:pPr indent="0" marL="0">
              <a:buNone/>
            </a:pPr>
            <a:r>
              <a:rPr lang="en-US" sz="2600" b="1" dirty="0">
                <a:solidFill>
                  <a:srgbClr val="1B5E3A"/>
                </a:solidFill>
                <a:latin typeface="Cambria" pitchFamily="34" charset="0"/>
                <a:ea typeface="Cambria" pitchFamily="34" charset="-122"/>
                <a:cs typeface="Cambria" pitchFamily="34" charset="-120"/>
              </a:rPr>
              <a:t>98.88% at Epoch 3</a:t>
            </a:r>
            <a:endParaRPr lang="en-US" sz="1400" dirty="0"/>
          </a:p>
        </p:txBody>
      </p:sp>
      <p:sp>
        <p:nvSpPr>
          <p:cNvPr id="7" name="Text 3"/>
          <p:cNvSpPr txBox="1"/>
          <p:nvPr/>
        </p:nvSpPr>
        <p:spPr>
          <a:xfrm>
            <a:off x="548640" y="5715000"/>
            <a:ext cx="5120640" cy="5486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Validation accuracy fell to 96.84% by epoch 5 while training accuracy kept rising, so the Epoch 3 weights were kept.</a:t>
            </a:r>
            <a:endParaRPr lang="en-US" sz="1300" dirty="0"/>
          </a:p>
        </p:txBody>
      </p:sp>
      <p:pic>
        <p:nvPicPr>
          <p:cNvPr id="8" name="Image 0" descr="i3.png">    </p:cNvPr>
          <p:cNvPicPr>
            <a:picLocks noChangeAspect="1"/>
          </p:cNvPicPr>
          <p:nvPr/>
        </p:nvPicPr>
        <p:blipFill>
          <a:blip r:embed="rId1"/>
          <a:stretch>
            <a:fillRect/>
          </a:stretch>
        </p:blipFill>
        <p:spPr>
          <a:xfrm>
            <a:off x="6035040" y="1371600"/>
            <a:ext cx="5577840" cy="3238746"/>
          </a:xfrm>
          <a:prstGeom prst="rect">
            <a:avLst/>
          </a:prstGeom>
        </p:spPr>
      </p:pic>
      <p:sp>
        <p:nvSpPr>
          <p:cNvPr id="9" name="Text 4"/>
          <p:cNvSpPr txBox="1"/>
          <p:nvPr/>
        </p:nvSpPr>
        <p:spPr>
          <a:xfrm>
            <a:off x="6035040" y="4683498"/>
            <a:ext cx="557784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Training and validation accuracy per epoch (from the report)</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PyTorch Test Evaluation</a:t>
            </a:r>
            <a:endParaRPr lang="en-US" sz="3200" dirty="0"/>
          </a:p>
        </p:txBody>
      </p:sp>
      <p:sp>
        <p:nvSpPr>
          <p:cNvPr id="4" name="Shape 1"/>
          <p:cNvSpPr/>
          <p:nvPr/>
        </p:nvSpPr>
        <p:spPr>
          <a:xfrm>
            <a:off x="548640" y="1325880"/>
            <a:ext cx="2651760" cy="1188720"/>
          </a:xfrm>
          <a:prstGeom prst="roundRect">
            <a:avLst>
              <a:gd name="adj" fmla="val 6154"/>
            </a:avLst>
          </a:prstGeom>
          <a:solidFill>
            <a:srgbClr val="E3F0E7"/>
          </a:solidFill>
          <a:ln w="12700">
            <a:solidFill>
              <a:srgbClr val="E3F0E7"/>
            </a:solidFill>
            <a:prstDash val="solid"/>
          </a:ln>
        </p:spPr>
      </p:sp>
      <p:sp>
        <p:nvSpPr>
          <p:cNvPr id="5" name="Text 2"/>
          <p:cNvSpPr txBox="1"/>
          <p:nvPr/>
        </p:nvSpPr>
        <p:spPr>
          <a:xfrm>
            <a:off x="548640" y="1435608"/>
            <a:ext cx="2651760" cy="653796"/>
          </a:xfrm>
          <a:prstGeom prst="rect">
            <a:avLst/>
          </a:prstGeom>
          <a:noFill/>
          <a:ln/>
        </p:spPr>
        <p:txBody>
          <a:bodyPr wrap="square" lIns="0" tIns="0" rIns="0" bIns="0" rtlCol="0" anchor="ctr"/>
          <a:lstStyle/>
          <a:p>
            <a:pPr algn="ctr" indent="0" marL="0">
              <a:buNone/>
            </a:pPr>
            <a:r>
              <a:rPr lang="en-US" sz="3000" b="1" dirty="0">
                <a:solidFill>
                  <a:srgbClr val="1B5E3A"/>
                </a:solidFill>
                <a:latin typeface="Cambria" pitchFamily="34" charset="0"/>
                <a:ea typeface="Cambria" pitchFamily="34" charset="-122"/>
                <a:cs typeface="Cambria" pitchFamily="34" charset="-120"/>
              </a:rPr>
              <a:t>98.68%</a:t>
            </a:r>
            <a:endParaRPr lang="en-US" sz="3000" dirty="0"/>
          </a:p>
        </p:txBody>
      </p:sp>
      <p:sp>
        <p:nvSpPr>
          <p:cNvPr id="6" name="Text 3"/>
          <p:cNvSpPr txBox="1"/>
          <p:nvPr/>
        </p:nvSpPr>
        <p:spPr>
          <a:xfrm>
            <a:off x="640080" y="2062886"/>
            <a:ext cx="2468880" cy="404165"/>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Test accuracy (908 images)</a:t>
            </a:r>
            <a:endParaRPr lang="en-US" sz="1200" dirty="0"/>
          </a:p>
        </p:txBody>
      </p:sp>
      <p:sp>
        <p:nvSpPr>
          <p:cNvPr id="7" name="Shape 4"/>
          <p:cNvSpPr/>
          <p:nvPr/>
        </p:nvSpPr>
        <p:spPr>
          <a:xfrm>
            <a:off x="3337560" y="1325880"/>
            <a:ext cx="2651760" cy="1188720"/>
          </a:xfrm>
          <a:prstGeom prst="roundRect">
            <a:avLst>
              <a:gd name="adj" fmla="val 6154"/>
            </a:avLst>
          </a:prstGeom>
          <a:solidFill>
            <a:srgbClr val="E4EBF5"/>
          </a:solidFill>
          <a:ln w="12700">
            <a:solidFill>
              <a:srgbClr val="E4EBF5"/>
            </a:solidFill>
            <a:prstDash val="solid"/>
          </a:ln>
        </p:spPr>
      </p:sp>
      <p:sp>
        <p:nvSpPr>
          <p:cNvPr id="8" name="Text 5"/>
          <p:cNvSpPr txBox="1"/>
          <p:nvPr/>
        </p:nvSpPr>
        <p:spPr>
          <a:xfrm>
            <a:off x="3337560" y="1435608"/>
            <a:ext cx="2651760" cy="653796"/>
          </a:xfrm>
          <a:prstGeom prst="rect">
            <a:avLst/>
          </a:prstGeom>
          <a:noFill/>
          <a:ln/>
        </p:spPr>
        <p:txBody>
          <a:bodyPr wrap="square" lIns="0" tIns="0" rIns="0" bIns="0" rtlCol="0" anchor="ctr"/>
          <a:lstStyle/>
          <a:p>
            <a:pPr algn="ctr" indent="0" marL="0">
              <a:buNone/>
            </a:pPr>
            <a:r>
              <a:rPr lang="en-US" sz="3000" b="1" dirty="0">
                <a:solidFill>
                  <a:srgbClr val="14325C"/>
                </a:solidFill>
                <a:latin typeface="Cambria" pitchFamily="34" charset="0"/>
                <a:ea typeface="Cambria" pitchFamily="34" charset="-122"/>
                <a:cs typeface="Cambria" pitchFamily="34" charset="-120"/>
              </a:rPr>
              <a:t>98.55%</a:t>
            </a:r>
            <a:endParaRPr lang="en-US" sz="3000" dirty="0"/>
          </a:p>
        </p:txBody>
      </p:sp>
      <p:sp>
        <p:nvSpPr>
          <p:cNvPr id="9" name="Text 6"/>
          <p:cNvSpPr txBox="1"/>
          <p:nvPr/>
        </p:nvSpPr>
        <p:spPr>
          <a:xfrm>
            <a:off x="3429000" y="2062886"/>
            <a:ext cx="2468880" cy="404165"/>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Macro precision</a:t>
            </a:r>
            <a:endParaRPr lang="en-US" sz="1200" dirty="0"/>
          </a:p>
        </p:txBody>
      </p:sp>
      <p:sp>
        <p:nvSpPr>
          <p:cNvPr id="10" name="Shape 7"/>
          <p:cNvSpPr/>
          <p:nvPr/>
        </p:nvSpPr>
        <p:spPr>
          <a:xfrm>
            <a:off x="6126480" y="1325880"/>
            <a:ext cx="2651760" cy="1188720"/>
          </a:xfrm>
          <a:prstGeom prst="roundRect">
            <a:avLst>
              <a:gd name="adj" fmla="val 6154"/>
            </a:avLst>
          </a:prstGeom>
          <a:solidFill>
            <a:srgbClr val="E4EBF5"/>
          </a:solidFill>
          <a:ln w="12700">
            <a:solidFill>
              <a:srgbClr val="E4EBF5"/>
            </a:solidFill>
            <a:prstDash val="solid"/>
          </a:ln>
        </p:spPr>
      </p:sp>
      <p:sp>
        <p:nvSpPr>
          <p:cNvPr id="11" name="Text 8"/>
          <p:cNvSpPr txBox="1"/>
          <p:nvPr/>
        </p:nvSpPr>
        <p:spPr>
          <a:xfrm>
            <a:off x="6126480" y="1435608"/>
            <a:ext cx="2651760" cy="653796"/>
          </a:xfrm>
          <a:prstGeom prst="rect">
            <a:avLst/>
          </a:prstGeom>
          <a:noFill/>
          <a:ln/>
        </p:spPr>
        <p:txBody>
          <a:bodyPr wrap="square" lIns="0" tIns="0" rIns="0" bIns="0" rtlCol="0" anchor="ctr"/>
          <a:lstStyle/>
          <a:p>
            <a:pPr algn="ctr" indent="0" marL="0">
              <a:buNone/>
            </a:pPr>
            <a:r>
              <a:rPr lang="en-US" sz="3000" b="1" dirty="0">
                <a:solidFill>
                  <a:srgbClr val="14325C"/>
                </a:solidFill>
                <a:latin typeface="Cambria" pitchFamily="34" charset="0"/>
                <a:ea typeface="Cambria" pitchFamily="34" charset="-122"/>
                <a:cs typeface="Cambria" pitchFamily="34" charset="-120"/>
              </a:rPr>
              <a:t>98.65%</a:t>
            </a:r>
            <a:endParaRPr lang="en-US" sz="3000" dirty="0"/>
          </a:p>
        </p:txBody>
      </p:sp>
      <p:sp>
        <p:nvSpPr>
          <p:cNvPr id="12" name="Text 9"/>
          <p:cNvSpPr txBox="1"/>
          <p:nvPr/>
        </p:nvSpPr>
        <p:spPr>
          <a:xfrm>
            <a:off x="6217920" y="2062886"/>
            <a:ext cx="2468880" cy="404165"/>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Macro recall</a:t>
            </a:r>
            <a:endParaRPr lang="en-US" sz="1200" dirty="0"/>
          </a:p>
        </p:txBody>
      </p:sp>
      <p:sp>
        <p:nvSpPr>
          <p:cNvPr id="13" name="Shape 10"/>
          <p:cNvSpPr/>
          <p:nvPr/>
        </p:nvSpPr>
        <p:spPr>
          <a:xfrm>
            <a:off x="8915400" y="1325880"/>
            <a:ext cx="2697480" cy="1188720"/>
          </a:xfrm>
          <a:prstGeom prst="roundRect">
            <a:avLst>
              <a:gd name="adj" fmla="val 6154"/>
            </a:avLst>
          </a:prstGeom>
          <a:solidFill>
            <a:srgbClr val="E4EBF5"/>
          </a:solidFill>
          <a:ln w="12700">
            <a:solidFill>
              <a:srgbClr val="E4EBF5"/>
            </a:solidFill>
            <a:prstDash val="solid"/>
          </a:ln>
        </p:spPr>
      </p:sp>
      <p:sp>
        <p:nvSpPr>
          <p:cNvPr id="14" name="Text 11"/>
          <p:cNvSpPr txBox="1"/>
          <p:nvPr/>
        </p:nvSpPr>
        <p:spPr>
          <a:xfrm>
            <a:off x="8915400" y="1435608"/>
            <a:ext cx="2697480" cy="653796"/>
          </a:xfrm>
          <a:prstGeom prst="rect">
            <a:avLst/>
          </a:prstGeom>
          <a:noFill/>
          <a:ln/>
        </p:spPr>
        <p:txBody>
          <a:bodyPr wrap="square" lIns="0" tIns="0" rIns="0" bIns="0" rtlCol="0" anchor="ctr"/>
          <a:lstStyle/>
          <a:p>
            <a:pPr algn="ctr" indent="0" marL="0">
              <a:buNone/>
            </a:pPr>
            <a:r>
              <a:rPr lang="en-US" sz="3000" b="1" dirty="0">
                <a:solidFill>
                  <a:srgbClr val="14325C"/>
                </a:solidFill>
                <a:latin typeface="Cambria" pitchFamily="34" charset="0"/>
                <a:ea typeface="Cambria" pitchFamily="34" charset="-122"/>
                <a:cs typeface="Cambria" pitchFamily="34" charset="-120"/>
              </a:rPr>
              <a:t>98.60%</a:t>
            </a:r>
            <a:endParaRPr lang="en-US" sz="3000" dirty="0"/>
          </a:p>
        </p:txBody>
      </p:sp>
      <p:sp>
        <p:nvSpPr>
          <p:cNvPr id="15" name="Text 12"/>
          <p:cNvSpPr txBox="1"/>
          <p:nvPr/>
        </p:nvSpPr>
        <p:spPr>
          <a:xfrm>
            <a:off x="9006840" y="2062886"/>
            <a:ext cx="2514600" cy="404165"/>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Macro F1 (weighted F1: 98.68%)</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6583680" cy="914400"/>
        </p:xfrm>
        <a:graphic>
          <a:graphicData uri="http://schemas.openxmlformats.org/drawingml/2006/table">
            <a:tbl>
              <a:tblPr/>
              <a:tblGrid>
                <a:gridCol w="1828800"/>
                <a:gridCol w="1188720"/>
                <a:gridCol w="1188720"/>
                <a:gridCol w="1280160"/>
                <a:gridCol w="109728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F1-score</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Support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r>
              <a:tr h="457200">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Early Blight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97.52%</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98.50%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98.01%</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Healthy</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99.69%</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98.77%</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99.23%</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326</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Late Blight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98.43%</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98.69%</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98.56%</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382</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Macro average</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98.55%</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98.65%</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98.60%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908</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E3F0E7"/>
                    </a:solidFill>
                  </a:tcPr>
                </a:tc>
              </a:tr>
            </a:tbl>
          </a:graphicData>
        </a:graphic>
      </p:graphicFrame>
      <p:sp>
        <p:nvSpPr>
          <p:cNvPr id="17" name="Text 13"/>
          <p:cNvSpPr txBox="1"/>
          <p:nvPr/>
        </p:nvSpPr>
        <p:spPr>
          <a:xfrm>
            <a:off x="548640" y="5394960"/>
            <a:ext cx="6583680" cy="73152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False negatives (diseased plant called Healthy) and confusion between the two blights have different costs, so per-class results matter.</a:t>
            </a:r>
            <a:endParaRPr lang="en-US" sz="1400" dirty="0"/>
          </a:p>
        </p:txBody>
      </p:sp>
      <p:sp>
        <p:nvSpPr>
          <p:cNvPr id="18" name="Shape 14"/>
          <p:cNvSpPr/>
          <p:nvPr/>
        </p:nvSpPr>
        <p:spPr>
          <a:xfrm>
            <a:off x="7498080" y="2926080"/>
            <a:ext cx="4114800" cy="3200400"/>
          </a:xfrm>
          <a:prstGeom prst="rect">
            <a:avLst/>
          </a:prstGeom>
          <a:solidFill>
            <a:srgbClr val="FFF7ED"/>
          </a:solidFill>
          <a:ln w="19050">
            <a:solidFill>
              <a:srgbClr val="C8591B"/>
            </a:solidFill>
            <a:prstDash val="dash"/>
          </a:ln>
        </p:spPr>
      </p:sp>
      <p:sp>
        <p:nvSpPr>
          <p:cNvPr id="19" name="Text 15"/>
          <p:cNvSpPr txBox="1"/>
          <p:nvPr/>
        </p:nvSpPr>
        <p:spPr>
          <a:xfrm>
            <a:off x="7680960" y="2926080"/>
            <a:ext cx="3749040" cy="3200400"/>
          </a:xfrm>
          <a:prstGeom prst="rect">
            <a:avLst/>
          </a:prstGeom>
          <a:noFill/>
          <a:ln/>
        </p:spPr>
        <p:txBody>
          <a:bodyPr wrap="square" lIns="0" tIns="0" rIns="0" bIns="0" rtlCol="0" anchor="ctr"/>
          <a:lstStyle/>
          <a:p>
            <a:pPr algn="ctr" indent="0" marL="0">
              <a:buNone/>
            </a:pPr>
            <a:r>
              <a:rPr lang="en-US" sz="1400" b="1" dirty="0">
                <a:solidFill>
                  <a:srgbClr val="C8591B"/>
                </a:solidFill>
                <a:latin typeface="Calibri" pitchFamily="34" charset="0"/>
                <a:ea typeface="Calibri" pitchFamily="34" charset="-122"/>
                <a:cs typeface="Calibri" pitchFamily="34" charset="-120"/>
              </a:rPr>
              <a:t>PLACEHOLDER</a:t>
            </a:r>
            <a:endParaRPr lang="en-US" sz="1400" dirty="0"/>
          </a:p>
          <a:p>
            <a:pPr algn="ctr" indent="0" marL="0">
              <a:buNone/>
            </a:pPr>
            <a:r>
              <a:rPr lang="en-US" sz="1400" b="1" dirty="0">
                <a:solidFill>
                  <a:srgbClr val="C8591B"/>
                </a:solidFill>
                <a:latin typeface="Calibri" pitchFamily="34" charset="0"/>
                <a:ea typeface="Calibri" pitchFamily="34" charset="-122"/>
                <a:cs typeface="Calibri" pitchFamily="34" charset="-120"/>
              </a:rPr>
              <a:t>Insert PyTorch confusion matrix</a:t>
            </a:r>
            <a:endParaRPr lang="en-US" sz="1400" dirty="0"/>
          </a:p>
          <a:p>
            <a:pPr algn="ctr" indent="0" marL="0">
              <a:buNone/>
            </a:pPr>
            <a:r>
              <a:rPr lang="en-US" sz="1400" b="1" dirty="0">
                <a:solidFill>
                  <a:srgbClr val="C8591B"/>
                </a:solidFill>
                <a:latin typeface="Calibri" pitchFamily="34" charset="0"/>
                <a:ea typeface="Calibri" pitchFamily="34" charset="-122"/>
                <a:cs typeface="Calibri" pitchFamily="34" charset="-120"/>
              </a:rPr>
              <a:t>(results/confusion_matrix.png)</a:t>
            </a:r>
            <a:endParaRPr lang="en-US" sz="1400" dirty="0"/>
          </a:p>
          <a:p>
            <a:pPr algn="ctr" indent="0" marL="0">
              <a:buNone/>
            </a:pPr>
            <a:r>
              <a:rPr lang="en-US" sz="1400" b="1" dirty="0">
                <a:solidFill>
                  <a:srgbClr val="C8591B"/>
                </a:solidFill>
                <a:latin typeface="Calibri" pitchFamily="34" charset="0"/>
                <a:ea typeface="Calibri" pitchFamily="34" charset="-122"/>
                <a:cs typeface="Calibri" pitchFamily="34" charset="-120"/>
              </a:rPr>
              <a:t>Cell values were not supplied in the report</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OpenVINO Model Conversion</a:t>
            </a:r>
            <a:endParaRPr lang="en-US" sz="3200" dirty="0"/>
          </a:p>
        </p:txBody>
      </p:sp>
      <p:sp>
        <p:nvSpPr>
          <p:cNvPr id="4" name="Shape 1"/>
          <p:cNvSpPr/>
          <p:nvPr/>
        </p:nvSpPr>
        <p:spPr>
          <a:xfrm>
            <a:off x="548640" y="1371600"/>
            <a:ext cx="4480560" cy="1325880"/>
          </a:xfrm>
          <a:prstGeom prst="roundRect">
            <a:avLst>
              <a:gd name="adj" fmla="val 5517"/>
            </a:avLst>
          </a:prstGeom>
          <a:solidFill>
            <a:srgbClr val="F4F8F5"/>
          </a:solidFill>
          <a:ln w="12700">
            <a:solidFill>
              <a:srgbClr val="F4F8F5"/>
            </a:solidFill>
            <a:prstDash val="solid"/>
          </a:ln>
        </p:spPr>
      </p:sp>
      <p:sp>
        <p:nvSpPr>
          <p:cNvPr id="5" name="Text 2"/>
          <p:cNvSpPr txBox="1"/>
          <p:nvPr/>
        </p:nvSpPr>
        <p:spPr>
          <a:xfrm>
            <a:off x="731520" y="1463040"/>
            <a:ext cx="4114800" cy="1188720"/>
          </a:xfrm>
          <a:prstGeom prst="rect">
            <a:avLst/>
          </a:prstGeom>
          <a:noFill/>
          <a:ln/>
        </p:spPr>
        <p:txBody>
          <a:bodyPr wrap="square" lIns="0" tIns="0" rIns="0" bIns="0" rtlCol="0" anchor="t"/>
          <a:lstStyle/>
          <a:p>
            <a:pPr indent="0" marL="0">
              <a:buNone/>
            </a:pPr>
            <a:r>
              <a:rPr lang="en-US" sz="1700" b="1" dirty="0">
                <a:solidFill>
                  <a:srgbClr val="14325C"/>
                </a:solidFill>
                <a:latin typeface="Calibri" pitchFamily="34" charset="0"/>
                <a:ea typeface="Calibri" pitchFamily="34" charset="-122"/>
                <a:cs typeface="Calibri" pitchFamily="34" charset="-120"/>
              </a:rPr>
              <a:t>Why OpenVINO</a:t>
            </a:r>
            <a:endParaRPr lang="en-US" sz="1700" dirty="0"/>
          </a:p>
          <a:p>
            <a:pPr indent="0" marL="0">
              <a:buNone/>
            </a:pPr>
            <a:r>
              <a:rPr lang="en-US" sz="1400" dirty="0">
                <a:solidFill>
                  <a:srgbClr val="1F2933"/>
                </a:solidFill>
                <a:latin typeface="Calibri" pitchFamily="34" charset="0"/>
                <a:ea typeface="Calibri" pitchFamily="34" charset="-122"/>
                <a:cs typeface="Calibri" pitchFamily="34" charset="-120"/>
              </a:rPr>
              <a:t>Optimised, efficient inference runtime for Intel CPUs and other devices; a natural fit for edge-style deployment.</a:t>
            </a:r>
            <a:endParaRPr lang="en-US" sz="1700" dirty="0"/>
          </a:p>
        </p:txBody>
      </p:sp>
      <p:sp>
        <p:nvSpPr>
          <p:cNvPr id="6" name="Shape 3"/>
          <p:cNvSpPr/>
          <p:nvPr/>
        </p:nvSpPr>
        <p:spPr>
          <a:xfrm>
            <a:off x="548640" y="2834640"/>
            <a:ext cx="2148840" cy="1783080"/>
          </a:xfrm>
          <a:prstGeom prst="roundRect">
            <a:avLst>
              <a:gd name="adj" fmla="val 4103"/>
            </a:avLst>
          </a:prstGeom>
          <a:solidFill>
            <a:srgbClr val="E4EBF5"/>
          </a:solidFill>
          <a:ln w="12700">
            <a:solidFill>
              <a:srgbClr val="E4EBF5"/>
            </a:solidFill>
            <a:prstDash val="solid"/>
          </a:ln>
        </p:spPr>
      </p:sp>
      <p:sp>
        <p:nvSpPr>
          <p:cNvPr id="7" name="Text 4"/>
          <p:cNvSpPr txBox="1"/>
          <p:nvPr/>
        </p:nvSpPr>
        <p:spPr>
          <a:xfrm>
            <a:off x="731520" y="2926080"/>
            <a:ext cx="1828800" cy="1645920"/>
          </a:xfrm>
          <a:prstGeom prst="rect">
            <a:avLst/>
          </a:prstGeom>
          <a:noFill/>
          <a:ln/>
        </p:spPr>
        <p:txBody>
          <a:bodyPr wrap="square" lIns="0" tIns="0" rIns="0" bIns="0" rtlCol="0" anchor="t"/>
          <a:lstStyle/>
          <a:p>
            <a:pPr indent="0" marL="0">
              <a:spcAft>
                <a:spcPts val="600"/>
              </a:spcAft>
              <a:buNone/>
            </a:pPr>
            <a:r>
              <a:rPr lang="en-US" sz="2000" b="1" dirty="0">
                <a:solidFill>
                  <a:srgbClr val="14325C"/>
                </a:solidFill>
                <a:latin typeface="Calibri" pitchFamily="34" charset="0"/>
                <a:ea typeface="Calibri" pitchFamily="34" charset="-122"/>
                <a:cs typeface="Calibri" pitchFamily="34" charset="-120"/>
              </a:rPr>
              <a:t>XML</a:t>
            </a:r>
            <a:endParaRPr lang="en-US" sz="2000" dirty="0"/>
          </a:p>
          <a:p>
            <a:pPr indent="0" marL="0">
              <a:spcAft>
                <a:spcPts val="600"/>
              </a:spcAft>
              <a:buNone/>
            </a:pPr>
            <a:r>
              <a:rPr lang="en-US" sz="1400" dirty="0">
                <a:solidFill>
                  <a:srgbClr val="1F2933"/>
                </a:solidFill>
                <a:latin typeface="Calibri" pitchFamily="34" charset="0"/>
                <a:ea typeface="Calibri" pitchFamily="34" charset="-122"/>
                <a:cs typeface="Calibri" pitchFamily="34" charset="-120"/>
              </a:rPr>
              <a:t>Model structure</a:t>
            </a:r>
            <a:endParaRPr lang="en-US" sz="2000" dirty="0"/>
          </a:p>
          <a:p>
            <a:pPr indent="0" marL="0">
              <a:spcAft>
                <a:spcPts val="600"/>
              </a:spcAft>
              <a:buNone/>
            </a:pPr>
            <a:r>
              <a:rPr lang="en-US" sz="1800" b="1" dirty="0">
                <a:solidFill>
                  <a:srgbClr val="14325C"/>
                </a:solidFill>
                <a:latin typeface="Calibri" pitchFamily="34" charset="0"/>
                <a:ea typeface="Calibri" pitchFamily="34" charset="-122"/>
                <a:cs typeface="Calibri" pitchFamily="34" charset="-120"/>
              </a:rPr>
              <a:t>≈ 0.15 MB</a:t>
            </a:r>
            <a:endParaRPr lang="en-US" sz="2000" dirty="0"/>
          </a:p>
        </p:txBody>
      </p:sp>
      <p:sp>
        <p:nvSpPr>
          <p:cNvPr id="8" name="Shape 5"/>
          <p:cNvSpPr/>
          <p:nvPr/>
        </p:nvSpPr>
        <p:spPr>
          <a:xfrm>
            <a:off x="2880360" y="2834640"/>
            <a:ext cx="2148840" cy="1783080"/>
          </a:xfrm>
          <a:prstGeom prst="roundRect">
            <a:avLst>
              <a:gd name="adj" fmla="val 4103"/>
            </a:avLst>
          </a:prstGeom>
          <a:solidFill>
            <a:srgbClr val="E3F0E7"/>
          </a:solidFill>
          <a:ln w="12700">
            <a:solidFill>
              <a:srgbClr val="E3F0E7"/>
            </a:solidFill>
            <a:prstDash val="solid"/>
          </a:ln>
        </p:spPr>
      </p:sp>
      <p:sp>
        <p:nvSpPr>
          <p:cNvPr id="9" name="Text 6"/>
          <p:cNvSpPr txBox="1"/>
          <p:nvPr/>
        </p:nvSpPr>
        <p:spPr>
          <a:xfrm>
            <a:off x="3063240" y="2926080"/>
            <a:ext cx="1828800" cy="1645920"/>
          </a:xfrm>
          <a:prstGeom prst="rect">
            <a:avLst/>
          </a:prstGeom>
          <a:noFill/>
          <a:ln/>
        </p:spPr>
        <p:txBody>
          <a:bodyPr wrap="square" lIns="0" tIns="0" rIns="0" bIns="0" rtlCol="0" anchor="t"/>
          <a:lstStyle/>
          <a:p>
            <a:pPr indent="0" marL="0">
              <a:spcAft>
                <a:spcPts val="600"/>
              </a:spcAft>
              <a:buNone/>
            </a:pPr>
            <a:r>
              <a:rPr lang="en-US" sz="2000" b="1" dirty="0">
                <a:solidFill>
                  <a:srgbClr val="1B5E3A"/>
                </a:solidFill>
                <a:latin typeface="Calibri" pitchFamily="34" charset="0"/>
                <a:ea typeface="Calibri" pitchFamily="34" charset="-122"/>
                <a:cs typeface="Calibri" pitchFamily="34" charset="-120"/>
              </a:rPr>
              <a:t>BIN</a:t>
            </a:r>
            <a:endParaRPr lang="en-US" sz="2000" dirty="0"/>
          </a:p>
          <a:p>
            <a:pPr indent="0" marL="0">
              <a:spcAft>
                <a:spcPts val="600"/>
              </a:spcAft>
              <a:buNone/>
            </a:pPr>
            <a:r>
              <a:rPr lang="en-US" sz="1400" dirty="0">
                <a:solidFill>
                  <a:srgbClr val="1F2933"/>
                </a:solidFill>
                <a:latin typeface="Calibri" pitchFamily="34" charset="0"/>
                <a:ea typeface="Calibri" pitchFamily="34" charset="-122"/>
                <a:cs typeface="Calibri" pitchFamily="34" charset="-120"/>
              </a:rPr>
              <a:t>Model weights</a:t>
            </a:r>
            <a:endParaRPr lang="en-US" sz="2000" dirty="0"/>
          </a:p>
          <a:p>
            <a:pPr indent="0" marL="0">
              <a:spcAft>
                <a:spcPts val="600"/>
              </a:spcAft>
              <a:buNone/>
            </a:pPr>
            <a:r>
              <a:rPr lang="en-US" sz="1800" b="1" dirty="0">
                <a:solidFill>
                  <a:srgbClr val="1B5E3A"/>
                </a:solidFill>
                <a:latin typeface="Calibri" pitchFamily="34" charset="0"/>
                <a:ea typeface="Calibri" pitchFamily="34" charset="-122"/>
                <a:cs typeface="Calibri" pitchFamily="34" charset="-120"/>
              </a:rPr>
              <a:t>≈ 5.78 MB</a:t>
            </a:r>
            <a:endParaRPr lang="en-US" sz="2000" dirty="0"/>
          </a:p>
        </p:txBody>
      </p:sp>
      <p:sp>
        <p:nvSpPr>
          <p:cNvPr id="10" name="Shape 7"/>
          <p:cNvSpPr/>
          <p:nvPr/>
        </p:nvSpPr>
        <p:spPr>
          <a:xfrm>
            <a:off x="548640" y="4754880"/>
            <a:ext cx="4480560" cy="1371600"/>
          </a:xfrm>
          <a:prstGeom prst="roundRect">
            <a:avLst>
              <a:gd name="adj" fmla="val 5333"/>
            </a:avLst>
          </a:prstGeom>
          <a:solidFill>
            <a:srgbClr val="FCEBDD"/>
          </a:solidFill>
          <a:ln w="12700">
            <a:solidFill>
              <a:srgbClr val="FCEBDD"/>
            </a:solidFill>
            <a:prstDash val="solid"/>
          </a:ln>
        </p:spPr>
      </p:sp>
      <p:sp>
        <p:nvSpPr>
          <p:cNvPr id="11" name="Text 8"/>
          <p:cNvSpPr txBox="1"/>
          <p:nvPr/>
        </p:nvSpPr>
        <p:spPr>
          <a:xfrm>
            <a:off x="731520" y="4754880"/>
            <a:ext cx="4114800" cy="13716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 torch.jit.trace warning for Python 3.14+ appeared; conversion still completed successfully.</a:t>
            </a:r>
            <a:endParaRPr lang="en-US" sz="1400" dirty="0"/>
          </a:p>
        </p:txBody>
      </p:sp>
      <p:pic>
        <p:nvPicPr>
          <p:cNvPr id="12" name="Image 0" descr="i6.png">    </p:cNvPr>
          <p:cNvPicPr>
            <a:picLocks noChangeAspect="1"/>
          </p:cNvPicPr>
          <p:nvPr/>
        </p:nvPicPr>
        <p:blipFill>
          <a:blip r:embed="rId1"/>
          <a:stretch>
            <a:fillRect/>
          </a:stretch>
        </p:blipFill>
        <p:spPr>
          <a:xfrm>
            <a:off x="5303520" y="1371600"/>
            <a:ext cx="6309360" cy="2766244"/>
          </a:xfrm>
          <a:prstGeom prst="rect">
            <a:avLst/>
          </a:prstGeom>
        </p:spPr>
      </p:pic>
      <p:sp>
        <p:nvSpPr>
          <p:cNvPr id="13" name="Text 9"/>
          <p:cNvSpPr txBox="1"/>
          <p:nvPr/>
        </p:nvSpPr>
        <p:spPr>
          <a:xfrm>
            <a:off x="5303520" y="4183564"/>
            <a:ext cx="630936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Conversion terminal output (from the report)</a:t>
            </a:r>
            <a:endParaRPr lang="en-US" sz="1100" dirty="0"/>
          </a:p>
        </p:txBody>
      </p:sp>
      <p:pic>
        <p:nvPicPr>
          <p:cNvPr id="14" name="Image 1" descr="i7.png">    </p:cNvPr>
          <p:cNvPicPr>
            <a:picLocks noChangeAspect="1"/>
          </p:cNvPicPr>
          <p:nvPr/>
        </p:nvPicPr>
        <p:blipFill>
          <a:blip r:embed="rId2"/>
          <a:stretch>
            <a:fillRect/>
          </a:stretch>
        </p:blipFill>
        <p:spPr>
          <a:xfrm>
            <a:off x="5303520" y="4526280"/>
            <a:ext cx="3063240" cy="661149"/>
          </a:xfrm>
          <a:prstGeom prst="rect">
            <a:avLst/>
          </a:prstGeom>
        </p:spPr>
      </p:pic>
      <p:sp>
        <p:nvSpPr>
          <p:cNvPr id="15" name="Text 10"/>
          <p:cNvSpPr txBox="1"/>
          <p:nvPr/>
        </p:nvSpPr>
        <p:spPr>
          <a:xfrm>
            <a:off x="5303520" y="5233149"/>
            <a:ext cx="306324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OpenVINO functional test (dummy input)</a:t>
            </a:r>
            <a:endParaRPr lang="en-US" sz="1100" dirty="0"/>
          </a:p>
        </p:txBody>
      </p:sp>
      <p:pic>
        <p:nvPicPr>
          <p:cNvPr id="16" name="Image 2" descr="i8.png">    </p:cNvPr>
          <p:cNvPicPr>
            <a:picLocks noChangeAspect="1"/>
          </p:cNvPicPr>
          <p:nvPr/>
        </p:nvPicPr>
        <p:blipFill>
          <a:blip r:embed="rId3"/>
          <a:stretch>
            <a:fillRect/>
          </a:stretch>
        </p:blipFill>
        <p:spPr>
          <a:xfrm>
            <a:off x="8503920" y="4526280"/>
            <a:ext cx="3108960" cy="870509"/>
          </a:xfrm>
          <a:prstGeom prst="rect">
            <a:avLst/>
          </a:prstGeom>
        </p:spPr>
      </p:pic>
      <p:sp>
        <p:nvSpPr>
          <p:cNvPr id="17" name="Text 11"/>
          <p:cNvSpPr txBox="1"/>
          <p:nvPr/>
        </p:nvSpPr>
        <p:spPr>
          <a:xfrm>
            <a:off x="8503920" y="5442509"/>
            <a:ext cx="310896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Real-image prediction: Early Blight</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OpenVINO Evaluation Results</a:t>
            </a:r>
            <a:endParaRPr lang="en-US" sz="3200" dirty="0"/>
          </a:p>
        </p:txBody>
      </p:sp>
      <p:sp>
        <p:nvSpPr>
          <p:cNvPr id="4" name="Shape 1"/>
          <p:cNvSpPr/>
          <p:nvPr/>
        </p:nvSpPr>
        <p:spPr>
          <a:xfrm>
            <a:off x="548640" y="1325880"/>
            <a:ext cx="1783080" cy="1097280"/>
          </a:xfrm>
          <a:prstGeom prst="roundRect">
            <a:avLst>
              <a:gd name="adj" fmla="val 6667"/>
            </a:avLst>
          </a:prstGeom>
          <a:solidFill>
            <a:srgbClr val="E3F0E7"/>
          </a:solidFill>
          <a:ln w="12700">
            <a:solidFill>
              <a:srgbClr val="E3F0E7"/>
            </a:solidFill>
            <a:prstDash val="solid"/>
          </a:ln>
        </p:spPr>
      </p:sp>
      <p:sp>
        <p:nvSpPr>
          <p:cNvPr id="5" name="Text 2"/>
          <p:cNvSpPr txBox="1"/>
          <p:nvPr/>
        </p:nvSpPr>
        <p:spPr>
          <a:xfrm>
            <a:off x="548640" y="1435608"/>
            <a:ext cx="1783080" cy="603504"/>
          </a:xfrm>
          <a:prstGeom prst="rect">
            <a:avLst/>
          </a:prstGeom>
          <a:noFill/>
          <a:ln/>
        </p:spPr>
        <p:txBody>
          <a:bodyPr wrap="square" lIns="0" tIns="0" rIns="0" bIns="0" rtlCol="0" anchor="ctr"/>
          <a:lstStyle/>
          <a:p>
            <a:pPr algn="ctr" indent="0" marL="0">
              <a:buNone/>
            </a:pPr>
            <a:r>
              <a:rPr lang="en-US" sz="3000" b="1" dirty="0">
                <a:solidFill>
                  <a:srgbClr val="1B5E3A"/>
                </a:solidFill>
                <a:latin typeface="Cambria" pitchFamily="34" charset="0"/>
                <a:ea typeface="Cambria" pitchFamily="34" charset="-122"/>
                <a:cs typeface="Cambria" pitchFamily="34" charset="-120"/>
              </a:rPr>
              <a:t>98.46%</a:t>
            </a:r>
            <a:endParaRPr lang="en-US" sz="3000" dirty="0"/>
          </a:p>
        </p:txBody>
      </p:sp>
      <p:sp>
        <p:nvSpPr>
          <p:cNvPr id="6" name="Text 3"/>
          <p:cNvSpPr txBox="1"/>
          <p:nvPr/>
        </p:nvSpPr>
        <p:spPr>
          <a:xfrm>
            <a:off x="640080" y="2006194"/>
            <a:ext cx="1600200" cy="373075"/>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Accuracy (908 images)</a:t>
            </a:r>
            <a:endParaRPr lang="en-US" sz="1200" dirty="0"/>
          </a:p>
        </p:txBody>
      </p:sp>
      <p:sp>
        <p:nvSpPr>
          <p:cNvPr id="7" name="Shape 4"/>
          <p:cNvSpPr/>
          <p:nvPr/>
        </p:nvSpPr>
        <p:spPr>
          <a:xfrm>
            <a:off x="2468880" y="1325880"/>
            <a:ext cx="1783080" cy="1097280"/>
          </a:xfrm>
          <a:prstGeom prst="roundRect">
            <a:avLst>
              <a:gd name="adj" fmla="val 6667"/>
            </a:avLst>
          </a:prstGeom>
          <a:solidFill>
            <a:srgbClr val="E4EBF5"/>
          </a:solidFill>
          <a:ln w="12700">
            <a:solidFill>
              <a:srgbClr val="E4EBF5"/>
            </a:solidFill>
            <a:prstDash val="solid"/>
          </a:ln>
        </p:spPr>
      </p:sp>
      <p:sp>
        <p:nvSpPr>
          <p:cNvPr id="8" name="Text 5"/>
          <p:cNvSpPr txBox="1"/>
          <p:nvPr/>
        </p:nvSpPr>
        <p:spPr>
          <a:xfrm>
            <a:off x="2468880" y="1435608"/>
            <a:ext cx="1783080" cy="603504"/>
          </a:xfrm>
          <a:prstGeom prst="rect">
            <a:avLst/>
          </a:prstGeom>
          <a:noFill/>
          <a:ln/>
        </p:spPr>
        <p:txBody>
          <a:bodyPr wrap="square" lIns="0" tIns="0" rIns="0" bIns="0" rtlCol="0" anchor="ctr"/>
          <a:lstStyle/>
          <a:p>
            <a:pPr algn="ctr" indent="0" marL="0">
              <a:buNone/>
            </a:pPr>
            <a:r>
              <a:rPr lang="en-US" sz="3000" b="1" dirty="0">
                <a:solidFill>
                  <a:srgbClr val="14325C"/>
                </a:solidFill>
                <a:latin typeface="Cambria" pitchFamily="34" charset="0"/>
                <a:ea typeface="Cambria" pitchFamily="34" charset="-122"/>
                <a:cs typeface="Cambria" pitchFamily="34" charset="-120"/>
              </a:rPr>
              <a:t>6.63 ms</a:t>
            </a:r>
            <a:endParaRPr lang="en-US" sz="3000" dirty="0"/>
          </a:p>
        </p:txBody>
      </p:sp>
      <p:sp>
        <p:nvSpPr>
          <p:cNvPr id="9" name="Text 6"/>
          <p:cNvSpPr txBox="1"/>
          <p:nvPr/>
        </p:nvSpPr>
        <p:spPr>
          <a:xfrm>
            <a:off x="2560320" y="2006194"/>
            <a:ext cx="1600200" cy="373075"/>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Average latency</a:t>
            </a:r>
            <a:endParaRPr lang="en-US" sz="1200" dirty="0"/>
          </a:p>
        </p:txBody>
      </p:sp>
      <p:sp>
        <p:nvSpPr>
          <p:cNvPr id="10" name="Shape 7"/>
          <p:cNvSpPr/>
          <p:nvPr/>
        </p:nvSpPr>
        <p:spPr>
          <a:xfrm>
            <a:off x="4389120" y="1325880"/>
            <a:ext cx="1783080" cy="1097280"/>
          </a:xfrm>
          <a:prstGeom prst="roundRect">
            <a:avLst>
              <a:gd name="adj" fmla="val 6667"/>
            </a:avLst>
          </a:prstGeom>
          <a:solidFill>
            <a:srgbClr val="E4EBF5"/>
          </a:solidFill>
          <a:ln w="12700">
            <a:solidFill>
              <a:srgbClr val="E4EBF5"/>
            </a:solidFill>
            <a:prstDash val="solid"/>
          </a:ln>
        </p:spPr>
      </p:sp>
      <p:sp>
        <p:nvSpPr>
          <p:cNvPr id="11" name="Text 8"/>
          <p:cNvSpPr txBox="1"/>
          <p:nvPr/>
        </p:nvSpPr>
        <p:spPr>
          <a:xfrm>
            <a:off x="4389120" y="1435608"/>
            <a:ext cx="1783080" cy="603504"/>
          </a:xfrm>
          <a:prstGeom prst="rect">
            <a:avLst/>
          </a:prstGeom>
          <a:noFill/>
          <a:ln/>
        </p:spPr>
        <p:txBody>
          <a:bodyPr wrap="square" lIns="0" tIns="0" rIns="0" bIns="0" rtlCol="0" anchor="ctr"/>
          <a:lstStyle/>
          <a:p>
            <a:pPr algn="ctr" indent="0" marL="0">
              <a:buNone/>
            </a:pPr>
            <a:r>
              <a:rPr lang="en-US" sz="3000" b="1" dirty="0">
                <a:solidFill>
                  <a:srgbClr val="14325C"/>
                </a:solidFill>
                <a:latin typeface="Cambria" pitchFamily="34" charset="0"/>
                <a:ea typeface="Cambria" pitchFamily="34" charset="-122"/>
                <a:cs typeface="Cambria" pitchFamily="34" charset="-120"/>
              </a:rPr>
              <a:t>5.30 ms</a:t>
            </a:r>
            <a:endParaRPr lang="en-US" sz="3000" dirty="0"/>
          </a:p>
        </p:txBody>
      </p:sp>
      <p:sp>
        <p:nvSpPr>
          <p:cNvPr id="12" name="Text 9"/>
          <p:cNvSpPr txBox="1"/>
          <p:nvPr/>
        </p:nvSpPr>
        <p:spPr>
          <a:xfrm>
            <a:off x="4480560" y="2006194"/>
            <a:ext cx="1600200" cy="373075"/>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Median latency</a:t>
            </a:r>
            <a:endParaRPr lang="en-US" sz="1200" dirty="0"/>
          </a:p>
        </p:txBody>
      </p:sp>
      <p:sp>
        <p:nvSpPr>
          <p:cNvPr id="13" name="Shape 10"/>
          <p:cNvSpPr/>
          <p:nvPr/>
        </p:nvSpPr>
        <p:spPr>
          <a:xfrm>
            <a:off x="6309360" y="1325880"/>
            <a:ext cx="1783080" cy="1097280"/>
          </a:xfrm>
          <a:prstGeom prst="roundRect">
            <a:avLst>
              <a:gd name="adj" fmla="val 6667"/>
            </a:avLst>
          </a:prstGeom>
          <a:solidFill>
            <a:srgbClr val="E4EBF5"/>
          </a:solidFill>
          <a:ln w="12700">
            <a:solidFill>
              <a:srgbClr val="E4EBF5"/>
            </a:solidFill>
            <a:prstDash val="solid"/>
          </a:ln>
        </p:spPr>
      </p:sp>
      <p:sp>
        <p:nvSpPr>
          <p:cNvPr id="14" name="Text 11"/>
          <p:cNvSpPr txBox="1"/>
          <p:nvPr/>
        </p:nvSpPr>
        <p:spPr>
          <a:xfrm>
            <a:off x="6309360" y="1435608"/>
            <a:ext cx="1783080" cy="603504"/>
          </a:xfrm>
          <a:prstGeom prst="rect">
            <a:avLst/>
          </a:prstGeom>
          <a:noFill/>
          <a:ln/>
        </p:spPr>
        <p:txBody>
          <a:bodyPr wrap="square" lIns="0" tIns="0" rIns="0" bIns="0" rtlCol="0" anchor="ctr"/>
          <a:lstStyle/>
          <a:p>
            <a:pPr algn="ctr" indent="0" marL="0">
              <a:buNone/>
            </a:pPr>
            <a:r>
              <a:rPr lang="en-US" sz="3000" b="1" dirty="0">
                <a:solidFill>
                  <a:srgbClr val="14325C"/>
                </a:solidFill>
                <a:latin typeface="Cambria" pitchFamily="34" charset="0"/>
                <a:ea typeface="Cambria" pitchFamily="34" charset="-122"/>
                <a:cs typeface="Cambria" pitchFamily="34" charset="-120"/>
              </a:rPr>
              <a:t>11.23 ms</a:t>
            </a:r>
            <a:endParaRPr lang="en-US" sz="3000" dirty="0"/>
          </a:p>
        </p:txBody>
      </p:sp>
      <p:sp>
        <p:nvSpPr>
          <p:cNvPr id="15" name="Text 12"/>
          <p:cNvSpPr txBox="1"/>
          <p:nvPr/>
        </p:nvSpPr>
        <p:spPr>
          <a:xfrm>
            <a:off x="6400800" y="2006194"/>
            <a:ext cx="1600200" cy="373075"/>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95th percentile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7543800" cy="914400"/>
        </p:xfrm>
        <a:graphic>
          <a:graphicData uri="http://schemas.openxmlformats.org/drawingml/2006/table">
            <a:tbl>
              <a:tblPr/>
              <a:tblGrid>
                <a:gridCol w="2194560"/>
                <a:gridCol w="1783080"/>
                <a:gridCol w="1783080"/>
                <a:gridCol w="178308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F1-score</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r>
              <a:tr h="365760">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Early Blight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97.51%</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98.00%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97.76%</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365760">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Healthy</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99.69%</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98.47%</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99.07%</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365760">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Late Blight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97.92%</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98.69%</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98.31%</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bl>
          </a:graphicData>
        </a:graphic>
      </p:graphicFrame>
      <p:pic>
        <p:nvPicPr>
          <p:cNvPr id="17" name="Image 0" descr="i5.png">    </p:cNvPr>
          <p:cNvPicPr>
            <a:picLocks noChangeAspect="1"/>
          </p:cNvPicPr>
          <p:nvPr/>
        </p:nvPicPr>
        <p:blipFill>
          <a:blip r:embed="rId1"/>
          <a:stretch>
            <a:fillRect/>
          </a:stretch>
        </p:blipFill>
        <p:spPr>
          <a:xfrm>
            <a:off x="548640" y="4343400"/>
            <a:ext cx="3904555" cy="1783080"/>
          </a:xfrm>
          <a:prstGeom prst="rect">
            <a:avLst/>
          </a:prstGeom>
        </p:spPr>
      </p:pic>
      <p:sp>
        <p:nvSpPr>
          <p:cNvPr id="18" name="Text 13"/>
          <p:cNvSpPr txBox="1"/>
          <p:nvPr/>
        </p:nvSpPr>
        <p:spPr>
          <a:xfrm>
            <a:off x="548640" y="6163056"/>
            <a:ext cx="457200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OpenVINO evaluation terminal output (report)</a:t>
            </a:r>
            <a:endParaRPr lang="en-US" sz="1100" dirty="0"/>
          </a:p>
        </p:txBody>
      </p:sp>
      <p:sp>
        <p:nvSpPr>
          <p:cNvPr id="19" name="Shape 14"/>
          <p:cNvSpPr/>
          <p:nvPr/>
        </p:nvSpPr>
        <p:spPr>
          <a:xfrm>
            <a:off x="5029200" y="4343400"/>
            <a:ext cx="3063240" cy="1783080"/>
          </a:xfrm>
          <a:prstGeom prst="roundRect">
            <a:avLst>
              <a:gd name="adj" fmla="val 4103"/>
            </a:avLst>
          </a:prstGeom>
          <a:solidFill>
            <a:srgbClr val="FCEBDD"/>
          </a:solidFill>
          <a:ln w="12700">
            <a:solidFill>
              <a:srgbClr val="FCEBDD"/>
            </a:solidFill>
            <a:prstDash val="solid"/>
          </a:ln>
        </p:spPr>
      </p:sp>
      <p:sp>
        <p:nvSpPr>
          <p:cNvPr id="20" name="Text 15"/>
          <p:cNvSpPr txBox="1"/>
          <p:nvPr/>
        </p:nvSpPr>
        <p:spPr>
          <a:xfrm>
            <a:off x="5212080" y="4343400"/>
            <a:ext cx="2743200" cy="17830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PyTorch: 98.68% (896 correct)</a:t>
            </a:r>
            <a:endParaRPr lang="en-US" sz="1400" dirty="0"/>
          </a:p>
          <a:p>
            <a:pPr indent="0" marL="0">
              <a:buNone/>
            </a:pPr>
            <a:r>
              <a:rPr lang="en-US" sz="1400" dirty="0">
                <a:solidFill>
                  <a:srgbClr val="1F2933"/>
                </a:solidFill>
                <a:latin typeface="Calibri" pitchFamily="34" charset="0"/>
                <a:ea typeface="Calibri" pitchFamily="34" charset="-122"/>
                <a:cs typeface="Calibri" pitchFamily="34" charset="-120"/>
              </a:rPr>
              <a:t>OpenVINO: 98.46% (894 correct)</a:t>
            </a:r>
            <a:endParaRPr lang="en-US" sz="1400" dirty="0"/>
          </a:p>
          <a:p>
            <a:pPr indent="0" marL="0">
              <a:buNone/>
            </a:pPr>
            <a:r>
              <a:rPr lang="en-US" sz="1400" dirty="0">
                <a:solidFill>
                  <a:srgbClr val="1F2933"/>
                </a:solidFill>
                <a:latin typeface="Calibri" pitchFamily="34" charset="0"/>
                <a:ea typeface="Calibri" pitchFamily="34" charset="-122"/>
                <a:cs typeface="Calibri" pitchFamily="34" charset="-120"/>
              </a:rPr>
              <a:t>Difference: 2 images</a:t>
            </a:r>
            <a:endParaRPr lang="en-US" sz="1400" dirty="0"/>
          </a:p>
        </p:txBody>
      </p:sp>
      <p:pic>
        <p:nvPicPr>
          <p:cNvPr id="21" name="Image 1" descr="i9.png">    </p:cNvPr>
          <p:cNvPicPr>
            <a:picLocks noChangeAspect="1"/>
          </p:cNvPicPr>
          <p:nvPr/>
        </p:nvPicPr>
        <p:blipFill>
          <a:blip r:embed="rId2"/>
          <a:stretch>
            <a:fillRect/>
          </a:stretch>
        </p:blipFill>
        <p:spPr>
          <a:xfrm>
            <a:off x="8412480" y="1325880"/>
            <a:ext cx="3200400" cy="2782957"/>
          </a:xfrm>
          <a:prstGeom prst="rect">
            <a:avLst/>
          </a:prstGeom>
        </p:spPr>
      </p:pic>
      <p:sp>
        <p:nvSpPr>
          <p:cNvPr id="22" name="Text 16"/>
          <p:cNvSpPr txBox="1"/>
          <p:nvPr/>
        </p:nvSpPr>
        <p:spPr>
          <a:xfrm>
            <a:off x="8412480" y="4154557"/>
            <a:ext cx="320040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OpenVINO confusion matrix (908 test images)</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CPU Benchmark: PyTorch vs OpenVINO</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577840" cy="914400"/>
        </p:xfrm>
        <a:graphic>
          <a:graphicData uri="http://schemas.openxmlformats.org/drawingml/2006/table">
            <a:tbl>
              <a:tblPr/>
              <a:tblGrid>
                <a:gridCol w="2286000"/>
                <a:gridCol w="1645920"/>
                <a:gridCol w="164592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PyTorch CPU</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OpenVINO CPU</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r>
              <a:tr h="38404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Images evaluated</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38404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Accuracy (subset)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38404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Average latency</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4.30 ms</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b="1" dirty="0">
                          <a:solidFill>
                            <a:srgbClr val="1B5E3A"/>
                          </a:solidFill>
                          <a:latin typeface="Calibri" pitchFamily="34" charset="0"/>
                          <a:ea typeface="Calibri" pitchFamily="34" charset="-122"/>
                          <a:cs typeface="Calibri" pitchFamily="34" charset="-120"/>
                        </a:rPr>
                        <a:t>1.61 ms</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38404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Median latency</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dirty="0">
                          <a:solidFill>
                            <a:srgbClr val="1F2933"/>
                          </a:solidFill>
                          <a:latin typeface="Calibri" pitchFamily="34" charset="0"/>
                          <a:ea typeface="Calibri" pitchFamily="34" charset="-122"/>
                          <a:cs typeface="Calibri" pitchFamily="34" charset="-120"/>
                        </a:rPr>
                        <a:t>4.18 ms</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r" indent="0" marL="0">
                        <a:buNone/>
                      </a:pPr>
                      <a:r>
                        <a:rPr lang="en-US" sz="1400" b="1" dirty="0">
                          <a:solidFill>
                            <a:srgbClr val="1B5E3A"/>
                          </a:solidFill>
                          <a:latin typeface="Calibri" pitchFamily="34" charset="0"/>
                          <a:ea typeface="Calibri" pitchFamily="34" charset="-122"/>
                          <a:cs typeface="Calibri" pitchFamily="34" charset="-120"/>
                        </a:rPr>
                        <a:t>1.44 ms</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bl>
          </a:graphicData>
        </a:graphic>
      </p:graphicFrame>
      <p:graphicFrame>
        <p:nvGraphicFramePr>
          <p:cNvPr id="5" name="Chart 0" descr=""/>
          <p:cNvGraphicFramePr/>
          <p:nvPr/>
        </p:nvGraphicFramePr>
        <p:xfrm>
          <a:off x="548640" y="3429000"/>
          <a:ext cx="5577840" cy="2834640"/>
        </p:xfrm>
        <a:graphic xmlns:a="http://schemas.openxmlformats.org/drawingml/2006/main">
          <a:graphicData uri="http://schemas.openxmlformats.org/drawingml/2006/chart">
            <c:chart xmlns:c="http://schemas.openxmlformats.org/drawingml/2006/chart" r:id="rId1"/>
          </a:graphicData>
        </a:graphic>
      </p:graphicFrame>
      <p:sp>
        <p:nvSpPr>
          <p:cNvPr id="6" name="Shape 1"/>
          <p:cNvSpPr/>
          <p:nvPr/>
        </p:nvSpPr>
        <p:spPr>
          <a:xfrm>
            <a:off x="6400800" y="1325880"/>
            <a:ext cx="5212080" cy="1371600"/>
          </a:xfrm>
          <a:prstGeom prst="roundRect">
            <a:avLst>
              <a:gd name="adj" fmla="val 5333"/>
            </a:avLst>
          </a:prstGeom>
          <a:solidFill>
            <a:srgbClr val="E3F0E7"/>
          </a:solidFill>
          <a:ln w="12700">
            <a:solidFill>
              <a:srgbClr val="E3F0E7"/>
            </a:solidFill>
            <a:prstDash val="solid"/>
          </a:ln>
        </p:spPr>
      </p:sp>
      <p:sp>
        <p:nvSpPr>
          <p:cNvPr id="7" name="Text 2"/>
          <p:cNvSpPr txBox="1"/>
          <p:nvPr/>
        </p:nvSpPr>
        <p:spPr>
          <a:xfrm>
            <a:off x="6629400" y="1371600"/>
            <a:ext cx="4846320" cy="1280160"/>
          </a:xfrm>
          <a:prstGeom prst="rect">
            <a:avLst/>
          </a:prstGeom>
          <a:noFill/>
          <a:ln/>
        </p:spPr>
        <p:txBody>
          <a:bodyPr wrap="square" lIns="0" tIns="0" rIns="0" bIns="0" rtlCol="0" anchor="ctr"/>
          <a:lstStyle/>
          <a:p>
            <a:pPr indent="0" marL="0">
              <a:buNone/>
            </a:pPr>
            <a:r>
              <a:rPr lang="en-US" sz="3800" b="1" dirty="0">
                <a:solidFill>
                  <a:srgbClr val="1B5E3A"/>
                </a:solidFill>
                <a:latin typeface="Cambria" pitchFamily="34" charset="0"/>
                <a:ea typeface="Cambria" pitchFamily="34" charset="-122"/>
                <a:cs typeface="Cambria" pitchFamily="34" charset="-120"/>
              </a:rPr>
              <a:t>2.67×</a:t>
            </a:r>
            <a:endParaRPr lang="en-US" sz="3800" dirty="0"/>
          </a:p>
          <a:p>
            <a:pPr indent="0" marL="0">
              <a:buNone/>
            </a:pPr>
            <a:r>
              <a:rPr lang="en-US" sz="1400" dirty="0">
                <a:solidFill>
                  <a:srgbClr val="1F2933"/>
                </a:solidFill>
                <a:latin typeface="Calibri" pitchFamily="34" charset="0"/>
                <a:ea typeface="Calibri" pitchFamily="34" charset="-122"/>
                <a:cs typeface="Calibri" pitchFamily="34" charset="-120"/>
              </a:rPr>
              <a:t>OpenVINO measured average-latency speed ratio in this benchmark</a:t>
            </a:r>
            <a:endParaRPr lang="en-US" sz="3800" dirty="0"/>
          </a:p>
        </p:txBody>
      </p:sp>
      <p:pic>
        <p:nvPicPr>
          <p:cNvPr id="8" name="Image 0" descr="i11.png">    </p:cNvPr>
          <p:cNvPicPr>
            <a:picLocks noChangeAspect="1"/>
          </p:cNvPicPr>
          <p:nvPr/>
        </p:nvPicPr>
        <p:blipFill>
          <a:blip r:embed="rId2"/>
          <a:stretch>
            <a:fillRect/>
          </a:stretch>
        </p:blipFill>
        <p:spPr>
          <a:xfrm>
            <a:off x="6400800" y="2880360"/>
            <a:ext cx="5212080" cy="1240971"/>
          </a:xfrm>
          <a:prstGeom prst="rect">
            <a:avLst/>
          </a:prstGeom>
        </p:spPr>
      </p:pic>
      <p:sp>
        <p:nvSpPr>
          <p:cNvPr id="9" name="Text 3"/>
          <p:cNvSpPr txBox="1"/>
          <p:nvPr/>
        </p:nvSpPr>
        <p:spPr>
          <a:xfrm>
            <a:off x="6400800" y="4157907"/>
            <a:ext cx="521208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CPU benchmark terminal output (from the report)</a:t>
            </a:r>
            <a:endParaRPr lang="en-US" sz="1100" dirty="0"/>
          </a:p>
        </p:txBody>
      </p:sp>
      <p:sp>
        <p:nvSpPr>
          <p:cNvPr id="10" name="Text 4"/>
          <p:cNvSpPr txBox="1"/>
          <p:nvPr/>
        </p:nvSpPr>
        <p:spPr>
          <a:xfrm>
            <a:off x="6400800" y="4892040"/>
            <a:ext cx="521208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102 selected test images, not the full 908-image set</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Accuracy is not combined with the full test-set result</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Speedup is specific to this laptop and procedure</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Streamlit Web Application</a:t>
            </a:r>
            <a:endParaRPr lang="en-US" sz="3200" dirty="0"/>
          </a:p>
        </p:txBody>
      </p:sp>
      <p:sp>
        <p:nvSpPr>
          <p:cNvPr id="4" name="Text 1"/>
          <p:cNvSpPr txBox="1"/>
          <p:nvPr/>
        </p:nvSpPr>
        <p:spPr>
          <a:xfrm>
            <a:off x="548640" y="1371600"/>
            <a:ext cx="365760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Upload a tomato leaf image</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Click “Detect Crop Disease”</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View predicted class</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View class confidence scores</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View displayed inference latency</a:t>
            </a:r>
            <a:endParaRPr lang="en-US" sz="1500" dirty="0"/>
          </a:p>
          <a:p>
            <a:pPr marL="342900" indent="-3429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Caution: AI prediction, not a confirmed plant diagnosis</a:t>
            </a:r>
            <a:endParaRPr lang="en-US" sz="1500" dirty="0"/>
          </a:p>
        </p:txBody>
      </p:sp>
      <p:sp>
        <p:nvSpPr>
          <p:cNvPr id="5" name="Shape 2"/>
          <p:cNvSpPr/>
          <p:nvPr/>
        </p:nvSpPr>
        <p:spPr>
          <a:xfrm>
            <a:off x="548640" y="4526280"/>
            <a:ext cx="3657600" cy="1691640"/>
          </a:xfrm>
          <a:prstGeom prst="roundRect">
            <a:avLst>
              <a:gd name="adj" fmla="val 4324"/>
            </a:avLst>
          </a:prstGeom>
          <a:solidFill>
            <a:srgbClr val="E3F0E7"/>
          </a:solidFill>
          <a:ln w="12700">
            <a:solidFill>
              <a:srgbClr val="E3F0E7"/>
            </a:solidFill>
            <a:prstDash val="solid"/>
          </a:ln>
        </p:spPr>
      </p:sp>
      <p:sp>
        <p:nvSpPr>
          <p:cNvPr id="6" name="Text 3"/>
          <p:cNvSpPr txBox="1"/>
          <p:nvPr/>
        </p:nvSpPr>
        <p:spPr>
          <a:xfrm>
            <a:off x="731520" y="4572000"/>
            <a:ext cx="3383280" cy="1600200"/>
          </a:xfrm>
          <a:prstGeom prst="rect">
            <a:avLst/>
          </a:prstGeom>
          <a:noFill/>
          <a:ln/>
        </p:spPr>
        <p:txBody>
          <a:bodyPr wrap="square" lIns="0" tIns="0" rIns="0" bIns="0" rtlCol="0" anchor="ctr"/>
          <a:lstStyle/>
          <a:p>
            <a:pPr indent="0" marL="0">
              <a:spcAft>
                <a:spcPts val="300"/>
              </a:spcAft>
              <a:buNone/>
            </a:pPr>
            <a:r>
              <a:rPr lang="en-US" sz="1500" b="1" dirty="0">
                <a:solidFill>
                  <a:srgbClr val="1B5E3A"/>
                </a:solidFill>
                <a:latin typeface="Calibri" pitchFamily="34" charset="0"/>
                <a:ea typeface="Calibri" pitchFamily="34" charset="-122"/>
                <a:cs typeface="Calibri" pitchFamily="34" charset="-120"/>
              </a:rPr>
              <a:t>Recorded example</a:t>
            </a:r>
            <a:endParaRPr lang="en-US" sz="1500" dirty="0"/>
          </a:p>
          <a:p>
            <a:pPr indent="0" marL="0">
              <a:spcAft>
                <a:spcPts val="300"/>
              </a:spcAft>
              <a:buNone/>
            </a:pPr>
            <a:r>
              <a:rPr lang="en-US" sz="1400" dirty="0">
                <a:solidFill>
                  <a:srgbClr val="1F2933"/>
                </a:solidFill>
                <a:latin typeface="Calibri" pitchFamily="34" charset="0"/>
                <a:ea typeface="Calibri" pitchFamily="34" charset="-122"/>
                <a:cs typeface="Calibri" pitchFamily="34" charset="-120"/>
              </a:rPr>
              <a:t>Prediction: Early Blight</a:t>
            </a:r>
            <a:endParaRPr lang="en-US" sz="1500" dirty="0"/>
          </a:p>
          <a:p>
            <a:pPr indent="0" marL="0">
              <a:spcAft>
                <a:spcPts val="300"/>
              </a:spcAft>
              <a:buNone/>
            </a:pPr>
            <a:r>
              <a:rPr lang="en-US" sz="1400" dirty="0">
                <a:solidFill>
                  <a:srgbClr val="1F2933"/>
                </a:solidFill>
                <a:latin typeface="Calibri" pitchFamily="34" charset="0"/>
                <a:ea typeface="Calibri" pitchFamily="34" charset="-122"/>
                <a:cs typeface="Calibri" pitchFamily="34" charset="-120"/>
              </a:rPr>
              <a:t>Confidence: 99.56%</a:t>
            </a:r>
            <a:endParaRPr lang="en-US" sz="1500" dirty="0"/>
          </a:p>
          <a:p>
            <a:pPr indent="0" marL="0">
              <a:spcAft>
                <a:spcPts val="300"/>
              </a:spcAft>
              <a:buNone/>
            </a:pPr>
            <a:r>
              <a:rPr lang="en-US" sz="1400" dirty="0">
                <a:solidFill>
                  <a:srgbClr val="1F2933"/>
                </a:solidFill>
                <a:latin typeface="Calibri" pitchFamily="34" charset="0"/>
                <a:ea typeface="Calibri" pitchFamily="34" charset="-122"/>
                <a:cs typeface="Calibri" pitchFamily="34" charset="-120"/>
              </a:rPr>
              <a:t>Displayed latency: 13.59 ms</a:t>
            </a:r>
            <a:endParaRPr lang="en-US" sz="1500" dirty="0"/>
          </a:p>
        </p:txBody>
      </p:sp>
      <p:pic>
        <p:nvPicPr>
          <p:cNvPr id="7" name="Image 0" descr="i15.png">    </p:cNvPr>
          <p:cNvPicPr>
            <a:picLocks noChangeAspect="1"/>
          </p:cNvPicPr>
          <p:nvPr/>
        </p:nvPicPr>
        <p:blipFill>
          <a:blip r:embed="rId1"/>
          <a:stretch>
            <a:fillRect/>
          </a:stretch>
        </p:blipFill>
        <p:spPr>
          <a:xfrm>
            <a:off x="4480560" y="1325880"/>
            <a:ext cx="3840480" cy="3328416"/>
          </a:xfrm>
          <a:prstGeom prst="rect">
            <a:avLst/>
          </a:prstGeom>
        </p:spPr>
      </p:pic>
      <p:sp>
        <p:nvSpPr>
          <p:cNvPr id="8" name="Text 4"/>
          <p:cNvSpPr txBox="1"/>
          <p:nvPr/>
        </p:nvSpPr>
        <p:spPr>
          <a:xfrm>
            <a:off x="4480560" y="4690872"/>
            <a:ext cx="384048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Result screen: Early Blight</a:t>
            </a:r>
            <a:endParaRPr lang="en-US" sz="1100" dirty="0"/>
          </a:p>
        </p:txBody>
      </p:sp>
      <p:pic>
        <p:nvPicPr>
          <p:cNvPr id="9" name="Image 1" descr="i13.png">    </p:cNvPr>
          <p:cNvPicPr>
            <a:picLocks noChangeAspect="1"/>
          </p:cNvPicPr>
          <p:nvPr/>
        </p:nvPicPr>
        <p:blipFill>
          <a:blip r:embed="rId2"/>
          <a:stretch>
            <a:fillRect/>
          </a:stretch>
        </p:blipFill>
        <p:spPr>
          <a:xfrm>
            <a:off x="8549640" y="1325880"/>
            <a:ext cx="3063240" cy="1723073"/>
          </a:xfrm>
          <a:prstGeom prst="rect">
            <a:avLst/>
          </a:prstGeom>
        </p:spPr>
      </p:pic>
      <p:sp>
        <p:nvSpPr>
          <p:cNvPr id="10" name="Text 5"/>
          <p:cNvSpPr txBox="1"/>
          <p:nvPr/>
        </p:nvSpPr>
        <p:spPr>
          <a:xfrm>
            <a:off x="8549640" y="3085528"/>
            <a:ext cx="306324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Application home screen</a:t>
            </a:r>
            <a:endParaRPr lang="en-US" sz="1100" dirty="0"/>
          </a:p>
        </p:txBody>
      </p:sp>
      <p:sp>
        <p:nvSpPr>
          <p:cNvPr id="11" name="Shape 6"/>
          <p:cNvSpPr/>
          <p:nvPr/>
        </p:nvSpPr>
        <p:spPr>
          <a:xfrm>
            <a:off x="8549640" y="3429000"/>
            <a:ext cx="3063240" cy="2788920"/>
          </a:xfrm>
          <a:prstGeom prst="roundRect">
            <a:avLst>
              <a:gd name="adj" fmla="val 2623"/>
            </a:avLst>
          </a:prstGeom>
          <a:solidFill>
            <a:srgbClr val="FCEBDD"/>
          </a:solidFill>
          <a:ln w="12700">
            <a:solidFill>
              <a:srgbClr val="FCEBDD"/>
            </a:solidFill>
            <a:prstDash val="solid"/>
          </a:ln>
        </p:spPr>
      </p:sp>
      <p:sp>
        <p:nvSpPr>
          <p:cNvPr id="12" name="Text 7"/>
          <p:cNvSpPr txBox="1"/>
          <p:nvPr/>
        </p:nvSpPr>
        <p:spPr>
          <a:xfrm>
            <a:off x="8732520" y="3429000"/>
            <a:ext cx="2697480" cy="278892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The 13.59 ms is the latency shown for this single app run. It is not the same measurement as the 1.61 ms average from the separate 102-image CPU benchmark.</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Software and Hardware Environment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2286000"/>
                <a:gridCol w="448056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Used in this project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solidFill>
                      <a:srgbClr val="1B5E3A"/>
                    </a:solidFill>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Operating system</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Ubuntu Linux</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Language</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Python 3.14 (virtual environment)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Frameworks</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PyTorch 2.14.1 and torchvision 0.29.1</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MobileNetV3-Small (pretrained)</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Inference runtime</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OpenVINO 2026.4.1 (CPU)</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Web interface</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Streamlit 1.66.1</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PlantVillage (tomato subset)</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Training hardware</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NVIDIA GeForce RTX 3050 Laptop GPU</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r h="45720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Benchmark hardware</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Laptop CPU (CPU-to-CPU comparison)</a:t>
                      </a:r>
                      <a:endParaRPr lang="en-US" sz="1400" dirty="0">
                        <a:latin typeface="Calibri" charset="0"/>
                        <a:ea typeface="Calibri" charset="0"/>
                        <a:cs typeface="Calibri" charset="0"/>
                      </a:endParaRPr>
                    </a:p>
                  </a:txBody>
                  <a:tcPr marL="91440" marR="91440" marT="45720" marB="45720" anchor="ctr">
                    <a:lnL w="9525" cap="flat" cmpd="sng" algn="ctr">
                      <a:solidFill>
                        <a:srgbClr val="C9D3CC"/>
                      </a:solidFill>
                      <a:prstDash val="solid"/>
                      <a:round/>
                      <a:headEnd type="none" w="med" len="med"/>
                      <a:tailEnd type="none" w="med" len="med"/>
                    </a:lnL>
                    <a:lnR w="9525" cap="flat" cmpd="sng" algn="ctr">
                      <a:solidFill>
                        <a:srgbClr val="C9D3CC"/>
                      </a:solidFill>
                      <a:prstDash val="solid"/>
                      <a:round/>
                      <a:headEnd type="none" w="med" len="med"/>
                      <a:tailEnd type="none" w="med" len="med"/>
                    </a:lnR>
                    <a:lnT w="9525" cap="flat" cmpd="sng" algn="ctr">
                      <a:solidFill>
                        <a:srgbClr val="C9D3CC"/>
                      </a:solidFill>
                      <a:prstDash val="solid"/>
                      <a:round/>
                      <a:headEnd type="none" w="med" len="med"/>
                      <a:tailEnd type="none" w="med" len="med"/>
                    </a:lnT>
                    <a:lnB w="9525" cap="flat" cmpd="sng" algn="ctr">
                      <a:solidFill>
                        <a:srgbClr val="C9D3CC"/>
                      </a:solidFill>
                      <a:prstDash val="solid"/>
                      <a:round/>
                      <a:headEnd type="none" w="med" len="med"/>
                      <a:tailEnd type="none" w="med" len="med"/>
                    </a:lnB>
                  </a:tcPr>
                </a:tc>
              </a:tr>
            </a:tbl>
          </a:graphicData>
        </a:graphic>
      </p:graphicFrame>
      <p:sp>
        <p:nvSpPr>
          <p:cNvPr id="5" name="Shape 1"/>
          <p:cNvSpPr/>
          <p:nvPr/>
        </p:nvSpPr>
        <p:spPr>
          <a:xfrm>
            <a:off x="7680960" y="1325880"/>
            <a:ext cx="3931920" cy="2194560"/>
          </a:xfrm>
          <a:prstGeom prst="roundRect">
            <a:avLst>
              <a:gd name="adj" fmla="val 3333"/>
            </a:avLst>
          </a:prstGeom>
          <a:solidFill>
            <a:srgbClr val="E3F0E7"/>
          </a:solidFill>
          <a:ln w="12700">
            <a:solidFill>
              <a:srgbClr val="E3F0E7"/>
            </a:solidFill>
            <a:prstDash val="solid"/>
          </a:ln>
        </p:spPr>
      </p:sp>
      <p:sp>
        <p:nvSpPr>
          <p:cNvPr id="6" name="Text 2"/>
          <p:cNvSpPr txBox="1"/>
          <p:nvPr/>
        </p:nvSpPr>
        <p:spPr>
          <a:xfrm>
            <a:off x="7863840" y="1481328"/>
            <a:ext cx="3017520" cy="292608"/>
          </a:xfrm>
          <a:prstGeom prst="rect">
            <a:avLst/>
          </a:prstGeom>
          <a:solidFill>
            <a:srgbClr val="1B5E3A"/>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DEVELOPMENT ENVIRONMENT</a:t>
            </a:r>
            <a:endParaRPr lang="en-US" sz="1100" dirty="0"/>
          </a:p>
        </p:txBody>
      </p:sp>
      <p:sp>
        <p:nvSpPr>
          <p:cNvPr id="7" name="Text 3"/>
          <p:cNvSpPr txBox="1"/>
          <p:nvPr/>
        </p:nvSpPr>
        <p:spPr>
          <a:xfrm>
            <a:off x="7863840" y="1920240"/>
            <a:ext cx="3566160" cy="15544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Dell G15 laptop, Ubuntu. GPU for training; CPU for the recorded OpenVINO benchmark. Exact CPU and RAM were not recorded.</a:t>
            </a:r>
            <a:endParaRPr lang="en-US" sz="1400" dirty="0"/>
          </a:p>
        </p:txBody>
      </p:sp>
      <p:sp>
        <p:nvSpPr>
          <p:cNvPr id="8" name="Shape 4"/>
          <p:cNvSpPr/>
          <p:nvPr/>
        </p:nvSpPr>
        <p:spPr>
          <a:xfrm>
            <a:off x="7680960" y="3703320"/>
            <a:ext cx="3931920" cy="2514600"/>
          </a:xfrm>
          <a:prstGeom prst="roundRect">
            <a:avLst>
              <a:gd name="adj" fmla="val 2909"/>
            </a:avLst>
          </a:prstGeom>
          <a:solidFill>
            <a:srgbClr val="FCEBDD"/>
          </a:solidFill>
          <a:ln w="12700">
            <a:solidFill>
              <a:srgbClr val="FCEBDD"/>
            </a:solidFill>
            <a:prstDash val="solid"/>
          </a:ln>
        </p:spPr>
      </p:sp>
      <p:sp>
        <p:nvSpPr>
          <p:cNvPr id="9" name="Text 5"/>
          <p:cNvSpPr txBox="1"/>
          <p:nvPr/>
        </p:nvSpPr>
        <p:spPr>
          <a:xfrm>
            <a:off x="7863840" y="3858768"/>
            <a:ext cx="3017520" cy="292608"/>
          </a:xfrm>
          <a:prstGeom prst="rect">
            <a:avLst/>
          </a:prstGeom>
          <a:solidFill>
            <a:srgbClr val="C8591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PROPOSED EDGE HARDWARE</a:t>
            </a:r>
            <a:endParaRPr lang="en-US" sz="1100" dirty="0"/>
          </a:p>
        </p:txBody>
      </p:sp>
      <p:sp>
        <p:nvSpPr>
          <p:cNvPr id="10" name="Text 6"/>
          <p:cNvSpPr txBox="1"/>
          <p:nvPr/>
        </p:nvSpPr>
        <p:spPr>
          <a:xfrm>
            <a:off x="7863840" y="4297680"/>
            <a:ext cx="3566160" cy="1828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Not tested. No ESP32, Raspberry Pi or agricultural camera testing was performed in this work.</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Edge Deployment Feasibility</a:t>
            </a:r>
            <a:endParaRPr lang="en-US" sz="3200" dirty="0"/>
          </a:p>
        </p:txBody>
      </p:sp>
      <p:sp>
        <p:nvSpPr>
          <p:cNvPr id="4" name="Text 1"/>
          <p:cNvSpPr txBox="1"/>
          <p:nvPr/>
        </p:nvSpPr>
        <p:spPr>
          <a:xfrm>
            <a:off x="548640" y="1280160"/>
            <a:ext cx="4206240" cy="292608"/>
          </a:xfrm>
          <a:prstGeom prst="rect">
            <a:avLst/>
          </a:prstGeom>
          <a:solidFill>
            <a:srgbClr val="C8591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PROPOSED FUTURE DEPLOYMENT: NOT IMPLEMENTED</a:t>
            </a:r>
            <a:endParaRPr lang="en-US" sz="1100" dirty="0"/>
          </a:p>
        </p:txBody>
      </p:sp>
      <p:sp>
        <p:nvSpPr>
          <p:cNvPr id="5" name="Shape 2"/>
          <p:cNvSpPr/>
          <p:nvPr/>
        </p:nvSpPr>
        <p:spPr>
          <a:xfrm>
            <a:off x="548640" y="1783080"/>
            <a:ext cx="1691640" cy="1143000"/>
          </a:xfrm>
          <a:prstGeom prst="roundRect">
            <a:avLst>
              <a:gd name="adj" fmla="val 6400"/>
            </a:avLst>
          </a:prstGeom>
          <a:solidFill>
            <a:srgbClr val="FFF7ED"/>
          </a:solidFill>
          <a:ln w="19050">
            <a:solidFill>
              <a:srgbClr val="C8591B"/>
            </a:solidFill>
            <a:prstDash val="dash"/>
          </a:ln>
        </p:spPr>
      </p:sp>
      <p:sp>
        <p:nvSpPr>
          <p:cNvPr id="6" name="Text 3"/>
          <p:cNvSpPr txBox="1"/>
          <p:nvPr/>
        </p:nvSpPr>
        <p:spPr>
          <a:xfrm>
            <a:off x="621792" y="1783080"/>
            <a:ext cx="1545336" cy="1143000"/>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Edge camera</a:t>
            </a:r>
            <a:endParaRPr lang="en-US" sz="1400" dirty="0"/>
          </a:p>
        </p:txBody>
      </p:sp>
      <p:sp>
        <p:nvSpPr>
          <p:cNvPr id="7" name="Text 4"/>
          <p:cNvSpPr txBox="1"/>
          <p:nvPr/>
        </p:nvSpPr>
        <p:spPr>
          <a:xfrm>
            <a:off x="2221992" y="2148840"/>
            <a:ext cx="228600" cy="365760"/>
          </a:xfrm>
          <a:prstGeom prst="rect">
            <a:avLst/>
          </a:prstGeom>
          <a:noFill/>
          <a:ln/>
        </p:spPr>
        <p:txBody>
          <a:bodyPr wrap="square" lIns="0" tIns="0" rIns="0" bIns="0" rtlCol="0" anchor="ctr"/>
          <a:lstStyle/>
          <a:p>
            <a:pPr algn="ctr" indent="0" marL="0">
              <a:buNone/>
            </a:pPr>
            <a:r>
              <a:rPr lang="en-US" sz="1100" dirty="0">
                <a:solidFill>
                  <a:srgbClr val="C8591B"/>
                </a:solidFill>
              </a:rPr>
              <a:t>▶</a:t>
            </a:r>
            <a:endParaRPr lang="en-US" sz="1100" dirty="0"/>
          </a:p>
        </p:txBody>
      </p:sp>
      <p:sp>
        <p:nvSpPr>
          <p:cNvPr id="8" name="Shape 5"/>
          <p:cNvSpPr/>
          <p:nvPr/>
        </p:nvSpPr>
        <p:spPr>
          <a:xfrm>
            <a:off x="2423160" y="1783080"/>
            <a:ext cx="1691640" cy="1143000"/>
          </a:xfrm>
          <a:prstGeom prst="roundRect">
            <a:avLst>
              <a:gd name="adj" fmla="val 6400"/>
            </a:avLst>
          </a:prstGeom>
          <a:solidFill>
            <a:srgbClr val="FFF7ED"/>
          </a:solidFill>
          <a:ln w="19050">
            <a:solidFill>
              <a:srgbClr val="C8591B"/>
            </a:solidFill>
            <a:prstDash val="dash"/>
          </a:ln>
        </p:spPr>
      </p:sp>
      <p:sp>
        <p:nvSpPr>
          <p:cNvPr id="9" name="Text 6"/>
          <p:cNvSpPr txBox="1"/>
          <p:nvPr/>
        </p:nvSpPr>
        <p:spPr>
          <a:xfrm>
            <a:off x="2496312" y="1783080"/>
            <a:ext cx="1545336" cy="1143000"/>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Image capture</a:t>
            </a:r>
            <a:endParaRPr lang="en-US" sz="1400" dirty="0"/>
          </a:p>
        </p:txBody>
      </p:sp>
      <p:sp>
        <p:nvSpPr>
          <p:cNvPr id="10" name="Text 7"/>
          <p:cNvSpPr txBox="1"/>
          <p:nvPr/>
        </p:nvSpPr>
        <p:spPr>
          <a:xfrm>
            <a:off x="4096512" y="2148840"/>
            <a:ext cx="228600" cy="365760"/>
          </a:xfrm>
          <a:prstGeom prst="rect">
            <a:avLst/>
          </a:prstGeom>
          <a:noFill/>
          <a:ln/>
        </p:spPr>
        <p:txBody>
          <a:bodyPr wrap="square" lIns="0" tIns="0" rIns="0" bIns="0" rtlCol="0" anchor="ctr"/>
          <a:lstStyle/>
          <a:p>
            <a:pPr algn="ctr" indent="0" marL="0">
              <a:buNone/>
            </a:pPr>
            <a:r>
              <a:rPr lang="en-US" sz="1100" dirty="0">
                <a:solidFill>
                  <a:srgbClr val="C8591B"/>
                </a:solidFill>
              </a:rPr>
              <a:t>▶</a:t>
            </a:r>
            <a:endParaRPr lang="en-US" sz="1100" dirty="0"/>
          </a:p>
        </p:txBody>
      </p:sp>
      <p:sp>
        <p:nvSpPr>
          <p:cNvPr id="11" name="Shape 8"/>
          <p:cNvSpPr/>
          <p:nvPr/>
        </p:nvSpPr>
        <p:spPr>
          <a:xfrm>
            <a:off x="4297680" y="1783080"/>
            <a:ext cx="1691640" cy="1143000"/>
          </a:xfrm>
          <a:prstGeom prst="roundRect">
            <a:avLst>
              <a:gd name="adj" fmla="val 6400"/>
            </a:avLst>
          </a:prstGeom>
          <a:solidFill>
            <a:srgbClr val="FFF7ED"/>
          </a:solidFill>
          <a:ln w="19050">
            <a:solidFill>
              <a:srgbClr val="C8591B"/>
            </a:solidFill>
            <a:prstDash val="dash"/>
          </a:ln>
        </p:spPr>
      </p:sp>
      <p:sp>
        <p:nvSpPr>
          <p:cNvPr id="12" name="Text 9"/>
          <p:cNvSpPr txBox="1"/>
          <p:nvPr/>
        </p:nvSpPr>
        <p:spPr>
          <a:xfrm>
            <a:off x="4370832" y="1783080"/>
            <a:ext cx="1545336" cy="1143000"/>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Local preprocessing</a:t>
            </a:r>
            <a:endParaRPr lang="en-US" sz="1400" dirty="0"/>
          </a:p>
        </p:txBody>
      </p:sp>
      <p:sp>
        <p:nvSpPr>
          <p:cNvPr id="13" name="Text 10"/>
          <p:cNvSpPr txBox="1"/>
          <p:nvPr/>
        </p:nvSpPr>
        <p:spPr>
          <a:xfrm>
            <a:off x="5971032" y="2148840"/>
            <a:ext cx="228600" cy="365760"/>
          </a:xfrm>
          <a:prstGeom prst="rect">
            <a:avLst/>
          </a:prstGeom>
          <a:noFill/>
          <a:ln/>
        </p:spPr>
        <p:txBody>
          <a:bodyPr wrap="square" lIns="0" tIns="0" rIns="0" bIns="0" rtlCol="0" anchor="ctr"/>
          <a:lstStyle/>
          <a:p>
            <a:pPr algn="ctr" indent="0" marL="0">
              <a:buNone/>
            </a:pPr>
            <a:r>
              <a:rPr lang="en-US" sz="1100" dirty="0">
                <a:solidFill>
                  <a:srgbClr val="C8591B"/>
                </a:solidFill>
              </a:rPr>
              <a:t>▶</a:t>
            </a:r>
            <a:endParaRPr lang="en-US" sz="1100" dirty="0"/>
          </a:p>
        </p:txBody>
      </p:sp>
      <p:sp>
        <p:nvSpPr>
          <p:cNvPr id="14" name="Shape 11"/>
          <p:cNvSpPr/>
          <p:nvPr/>
        </p:nvSpPr>
        <p:spPr>
          <a:xfrm>
            <a:off x="6172200" y="1783080"/>
            <a:ext cx="1691640" cy="1143000"/>
          </a:xfrm>
          <a:prstGeom prst="roundRect">
            <a:avLst>
              <a:gd name="adj" fmla="val 6400"/>
            </a:avLst>
          </a:prstGeom>
          <a:solidFill>
            <a:srgbClr val="FFF7ED"/>
          </a:solidFill>
          <a:ln w="19050">
            <a:solidFill>
              <a:srgbClr val="C8591B"/>
            </a:solidFill>
            <a:prstDash val="dash"/>
          </a:ln>
        </p:spPr>
      </p:sp>
      <p:sp>
        <p:nvSpPr>
          <p:cNvPr id="15" name="Text 12"/>
          <p:cNvSpPr txBox="1"/>
          <p:nvPr/>
        </p:nvSpPr>
        <p:spPr>
          <a:xfrm>
            <a:off x="6245352" y="1783080"/>
            <a:ext cx="1545336" cy="1143000"/>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OpenVINO inference on edge hardware</a:t>
            </a:r>
            <a:endParaRPr lang="en-US" sz="1400" dirty="0"/>
          </a:p>
        </p:txBody>
      </p:sp>
      <p:sp>
        <p:nvSpPr>
          <p:cNvPr id="16" name="Text 13"/>
          <p:cNvSpPr txBox="1"/>
          <p:nvPr/>
        </p:nvSpPr>
        <p:spPr>
          <a:xfrm>
            <a:off x="7845552" y="2148840"/>
            <a:ext cx="228600" cy="365760"/>
          </a:xfrm>
          <a:prstGeom prst="rect">
            <a:avLst/>
          </a:prstGeom>
          <a:noFill/>
          <a:ln/>
        </p:spPr>
        <p:txBody>
          <a:bodyPr wrap="square" lIns="0" tIns="0" rIns="0" bIns="0" rtlCol="0" anchor="ctr"/>
          <a:lstStyle/>
          <a:p>
            <a:pPr algn="ctr" indent="0" marL="0">
              <a:buNone/>
            </a:pPr>
            <a:r>
              <a:rPr lang="en-US" sz="1100" dirty="0">
                <a:solidFill>
                  <a:srgbClr val="C8591B"/>
                </a:solidFill>
              </a:rPr>
              <a:t>▶</a:t>
            </a:r>
            <a:endParaRPr lang="en-US" sz="1100" dirty="0"/>
          </a:p>
        </p:txBody>
      </p:sp>
      <p:sp>
        <p:nvSpPr>
          <p:cNvPr id="17" name="Shape 14"/>
          <p:cNvSpPr/>
          <p:nvPr/>
        </p:nvSpPr>
        <p:spPr>
          <a:xfrm>
            <a:off x="8046720" y="1783080"/>
            <a:ext cx="1691640" cy="1143000"/>
          </a:xfrm>
          <a:prstGeom prst="roundRect">
            <a:avLst>
              <a:gd name="adj" fmla="val 6400"/>
            </a:avLst>
          </a:prstGeom>
          <a:solidFill>
            <a:srgbClr val="FFF7ED"/>
          </a:solidFill>
          <a:ln w="19050">
            <a:solidFill>
              <a:srgbClr val="C8591B"/>
            </a:solidFill>
            <a:prstDash val="dash"/>
          </a:ln>
        </p:spPr>
      </p:sp>
      <p:sp>
        <p:nvSpPr>
          <p:cNvPr id="18" name="Text 15"/>
          <p:cNvSpPr txBox="1"/>
          <p:nvPr/>
        </p:nvSpPr>
        <p:spPr>
          <a:xfrm>
            <a:off x="8119872" y="1783080"/>
            <a:ext cx="1545336" cy="1143000"/>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Disease classification</a:t>
            </a:r>
            <a:endParaRPr lang="en-US" sz="1400" dirty="0"/>
          </a:p>
        </p:txBody>
      </p:sp>
      <p:sp>
        <p:nvSpPr>
          <p:cNvPr id="19" name="Text 16"/>
          <p:cNvSpPr txBox="1"/>
          <p:nvPr/>
        </p:nvSpPr>
        <p:spPr>
          <a:xfrm>
            <a:off x="9720072" y="2148840"/>
            <a:ext cx="228600" cy="365760"/>
          </a:xfrm>
          <a:prstGeom prst="rect">
            <a:avLst/>
          </a:prstGeom>
          <a:noFill/>
          <a:ln/>
        </p:spPr>
        <p:txBody>
          <a:bodyPr wrap="square" lIns="0" tIns="0" rIns="0" bIns="0" rtlCol="0" anchor="ctr"/>
          <a:lstStyle/>
          <a:p>
            <a:pPr algn="ctr" indent="0" marL="0">
              <a:buNone/>
            </a:pPr>
            <a:r>
              <a:rPr lang="en-US" sz="1100" dirty="0">
                <a:solidFill>
                  <a:srgbClr val="C8591B"/>
                </a:solidFill>
              </a:rPr>
              <a:t>▶</a:t>
            </a:r>
            <a:endParaRPr lang="en-US" sz="1100" dirty="0"/>
          </a:p>
        </p:txBody>
      </p:sp>
      <p:sp>
        <p:nvSpPr>
          <p:cNvPr id="20" name="Shape 17"/>
          <p:cNvSpPr/>
          <p:nvPr/>
        </p:nvSpPr>
        <p:spPr>
          <a:xfrm>
            <a:off x="9921240" y="1783080"/>
            <a:ext cx="1691640" cy="1143000"/>
          </a:xfrm>
          <a:prstGeom prst="roundRect">
            <a:avLst>
              <a:gd name="adj" fmla="val 6400"/>
            </a:avLst>
          </a:prstGeom>
          <a:solidFill>
            <a:srgbClr val="FFF7ED"/>
          </a:solidFill>
          <a:ln w="19050">
            <a:solidFill>
              <a:srgbClr val="C8591B"/>
            </a:solidFill>
            <a:prstDash val="dash"/>
          </a:ln>
        </p:spPr>
      </p:sp>
      <p:sp>
        <p:nvSpPr>
          <p:cNvPr id="21" name="Text 18"/>
          <p:cNvSpPr txBox="1"/>
          <p:nvPr/>
        </p:nvSpPr>
        <p:spPr>
          <a:xfrm>
            <a:off x="9994392" y="1783080"/>
            <a:ext cx="1545336" cy="1143000"/>
          </a:xfrm>
          <a:prstGeom prst="rect">
            <a:avLst/>
          </a:prstGeom>
          <a:noFill/>
          <a:ln/>
        </p:spPr>
        <p:txBody>
          <a:bodyPr wrap="square" lIns="0" tIns="0" rIns="0" bIns="0" rtlCol="0" anchor="ctr"/>
          <a:lstStyle/>
          <a:p>
            <a:pPr algn="ctr" indent="0" marL="0">
              <a:buNone/>
            </a:pPr>
            <a:r>
              <a:rPr lang="en-US" sz="1400" b="1" dirty="0">
                <a:solidFill>
                  <a:srgbClr val="1F2933"/>
                </a:solidFill>
                <a:latin typeface="Calibri" pitchFamily="34" charset="0"/>
                <a:ea typeface="Calibri" pitchFamily="34" charset="-122"/>
                <a:cs typeface="Calibri" pitchFamily="34" charset="-120"/>
              </a:rPr>
              <a:t>Local display or optional dashboard</a:t>
            </a:r>
            <a:endParaRPr lang="en-US" sz="1400" dirty="0"/>
          </a:p>
        </p:txBody>
      </p:sp>
      <p:sp>
        <p:nvSpPr>
          <p:cNvPr id="22" name="Shape 19"/>
          <p:cNvSpPr/>
          <p:nvPr/>
        </p:nvSpPr>
        <p:spPr>
          <a:xfrm>
            <a:off x="548640" y="3291840"/>
            <a:ext cx="3566160" cy="2560320"/>
          </a:xfrm>
          <a:prstGeom prst="roundRect">
            <a:avLst>
              <a:gd name="adj" fmla="val 2857"/>
            </a:avLst>
          </a:prstGeom>
          <a:solidFill>
            <a:srgbClr val="E3F0E7"/>
          </a:solidFill>
          <a:ln w="12700">
            <a:solidFill>
              <a:srgbClr val="E3F0E7"/>
            </a:solidFill>
            <a:prstDash val="solid"/>
          </a:ln>
        </p:spPr>
      </p:sp>
      <p:pic>
        <p:nvPicPr>
          <p:cNvPr id="23" name="Image 0" descr="Benefits">    </p:cNvPr>
          <p:cNvPicPr>
            <a:picLocks noChangeAspect="1"/>
          </p:cNvPicPr>
          <p:nvPr/>
        </p:nvPicPr>
        <p:blipFill>
          <a:blip r:embed="rId1"/>
          <a:stretch>
            <a:fillRect/>
          </a:stretch>
        </p:blipFill>
        <p:spPr>
          <a:xfrm>
            <a:off x="777240" y="3520440"/>
            <a:ext cx="457200" cy="457200"/>
          </a:xfrm>
          <a:prstGeom prst="rect">
            <a:avLst/>
          </a:prstGeom>
        </p:spPr>
      </p:pic>
      <p:sp>
        <p:nvSpPr>
          <p:cNvPr id="24" name="Text 20"/>
          <p:cNvSpPr txBox="1"/>
          <p:nvPr/>
        </p:nvSpPr>
        <p:spPr>
          <a:xfrm>
            <a:off x="1417320" y="3493008"/>
            <a:ext cx="2514600" cy="365760"/>
          </a:xfrm>
          <a:prstGeom prst="rect">
            <a:avLst/>
          </a:prstGeom>
          <a:noFill/>
          <a:ln/>
        </p:spPr>
        <p:txBody>
          <a:bodyPr wrap="square" lIns="0" tIns="0" rIns="0" bIns="0" rtlCol="0" anchor="t"/>
          <a:lstStyle/>
          <a:p>
            <a:pPr indent="0" marL="0">
              <a:buNone/>
            </a:pPr>
            <a:r>
              <a:rPr lang="en-US" sz="1800" b="1" dirty="0">
                <a:solidFill>
                  <a:srgbClr val="14325C"/>
                </a:solidFill>
                <a:latin typeface="Calibri" pitchFamily="34" charset="0"/>
                <a:ea typeface="Calibri" pitchFamily="34" charset="-122"/>
                <a:cs typeface="Calibri" pitchFamily="34" charset="-120"/>
              </a:rPr>
              <a:t>Benefits</a:t>
            </a:r>
            <a:endParaRPr lang="en-US" sz="1800" dirty="0"/>
          </a:p>
        </p:txBody>
      </p:sp>
      <p:sp>
        <p:nvSpPr>
          <p:cNvPr id="25" name="Text 21"/>
          <p:cNvSpPr txBox="1"/>
          <p:nvPr/>
        </p:nvSpPr>
        <p:spPr>
          <a:xfrm>
            <a:off x="1417320" y="3886200"/>
            <a:ext cx="2514600" cy="1828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Less reliance on continuous cloud connectivity; low-latency local results.</a:t>
            </a:r>
            <a:endParaRPr lang="en-US" sz="1600" dirty="0"/>
          </a:p>
        </p:txBody>
      </p:sp>
      <p:sp>
        <p:nvSpPr>
          <p:cNvPr id="26" name="Shape 22"/>
          <p:cNvSpPr/>
          <p:nvPr/>
        </p:nvSpPr>
        <p:spPr>
          <a:xfrm>
            <a:off x="4297680" y="3291840"/>
            <a:ext cx="3566160" cy="2560320"/>
          </a:xfrm>
          <a:prstGeom prst="roundRect">
            <a:avLst>
              <a:gd name="adj" fmla="val 2857"/>
            </a:avLst>
          </a:prstGeom>
          <a:solidFill>
            <a:srgbClr val="FCEBDD"/>
          </a:solidFill>
          <a:ln w="12700">
            <a:solidFill>
              <a:srgbClr val="FCEBDD"/>
            </a:solidFill>
            <a:prstDash val="solid"/>
          </a:ln>
        </p:spPr>
      </p:sp>
      <p:pic>
        <p:nvPicPr>
          <p:cNvPr id="27" name="Image 1" descr="Constraints">    </p:cNvPr>
          <p:cNvPicPr>
            <a:picLocks noChangeAspect="1"/>
          </p:cNvPicPr>
          <p:nvPr/>
        </p:nvPicPr>
        <p:blipFill>
          <a:blip r:embed="rId2"/>
          <a:stretch>
            <a:fillRect/>
          </a:stretch>
        </p:blipFill>
        <p:spPr>
          <a:xfrm>
            <a:off x="4526280" y="3520440"/>
            <a:ext cx="457200" cy="457200"/>
          </a:xfrm>
          <a:prstGeom prst="rect">
            <a:avLst/>
          </a:prstGeom>
        </p:spPr>
      </p:pic>
      <p:sp>
        <p:nvSpPr>
          <p:cNvPr id="28" name="Text 23"/>
          <p:cNvSpPr txBox="1"/>
          <p:nvPr/>
        </p:nvSpPr>
        <p:spPr>
          <a:xfrm>
            <a:off x="5166360" y="3493008"/>
            <a:ext cx="2514600" cy="365760"/>
          </a:xfrm>
          <a:prstGeom prst="rect">
            <a:avLst/>
          </a:prstGeom>
          <a:noFill/>
          <a:ln/>
        </p:spPr>
        <p:txBody>
          <a:bodyPr wrap="square" lIns="0" tIns="0" rIns="0" bIns="0" rtlCol="0" anchor="t"/>
          <a:lstStyle/>
          <a:p>
            <a:pPr indent="0" marL="0">
              <a:buNone/>
            </a:pPr>
            <a:r>
              <a:rPr lang="en-US" sz="1800" b="1" dirty="0">
                <a:solidFill>
                  <a:srgbClr val="14325C"/>
                </a:solidFill>
                <a:latin typeface="Calibri" pitchFamily="34" charset="0"/>
                <a:ea typeface="Calibri" pitchFamily="34" charset="-122"/>
                <a:cs typeface="Calibri" pitchFamily="34" charset="-120"/>
              </a:rPr>
              <a:t>Constraints</a:t>
            </a:r>
            <a:endParaRPr lang="en-US" sz="1800" dirty="0"/>
          </a:p>
        </p:txBody>
      </p:sp>
      <p:sp>
        <p:nvSpPr>
          <p:cNvPr id="29" name="Text 24"/>
          <p:cNvSpPr txBox="1"/>
          <p:nvPr/>
        </p:nvSpPr>
        <p:spPr>
          <a:xfrm>
            <a:off x="5166360" y="3886200"/>
            <a:ext cx="2514600" cy="1828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Power and memory limits on edge devices; hardware compatibility needs device-specific benchmarking.</a:t>
            </a:r>
            <a:endParaRPr lang="en-US" sz="1600" dirty="0"/>
          </a:p>
        </p:txBody>
      </p:sp>
      <p:sp>
        <p:nvSpPr>
          <p:cNvPr id="30" name="Shape 25"/>
          <p:cNvSpPr/>
          <p:nvPr/>
        </p:nvSpPr>
        <p:spPr>
          <a:xfrm>
            <a:off x="8046720" y="3291840"/>
            <a:ext cx="3566160" cy="2560320"/>
          </a:xfrm>
          <a:prstGeom prst="roundRect">
            <a:avLst>
              <a:gd name="adj" fmla="val 2857"/>
            </a:avLst>
          </a:prstGeom>
          <a:solidFill>
            <a:srgbClr val="E4EBF5"/>
          </a:solidFill>
          <a:ln w="12700">
            <a:solidFill>
              <a:srgbClr val="E4EBF5"/>
            </a:solidFill>
            <a:prstDash val="solid"/>
          </a:ln>
        </p:spPr>
      </p:sp>
      <p:pic>
        <p:nvPicPr>
          <p:cNvPr id="31" name="Image 2" descr="Field conditions">    </p:cNvPr>
          <p:cNvPicPr>
            <a:picLocks noChangeAspect="1"/>
          </p:cNvPicPr>
          <p:nvPr/>
        </p:nvPicPr>
        <p:blipFill>
          <a:blip r:embed="rId3"/>
          <a:stretch>
            <a:fillRect/>
          </a:stretch>
        </p:blipFill>
        <p:spPr>
          <a:xfrm>
            <a:off x="8275320" y="3520440"/>
            <a:ext cx="457200" cy="457200"/>
          </a:xfrm>
          <a:prstGeom prst="rect">
            <a:avLst/>
          </a:prstGeom>
        </p:spPr>
      </p:pic>
      <p:sp>
        <p:nvSpPr>
          <p:cNvPr id="32" name="Text 26"/>
          <p:cNvSpPr txBox="1"/>
          <p:nvPr/>
        </p:nvSpPr>
        <p:spPr>
          <a:xfrm>
            <a:off x="8915400" y="3493008"/>
            <a:ext cx="2514600" cy="365760"/>
          </a:xfrm>
          <a:prstGeom prst="rect">
            <a:avLst/>
          </a:prstGeom>
          <a:noFill/>
          <a:ln/>
        </p:spPr>
        <p:txBody>
          <a:bodyPr wrap="square" lIns="0" tIns="0" rIns="0" bIns="0" rtlCol="0" anchor="t"/>
          <a:lstStyle/>
          <a:p>
            <a:pPr indent="0" marL="0">
              <a:buNone/>
            </a:pPr>
            <a:r>
              <a:rPr lang="en-US" sz="1800" b="1" dirty="0">
                <a:solidFill>
                  <a:srgbClr val="14325C"/>
                </a:solidFill>
                <a:latin typeface="Calibri" pitchFamily="34" charset="0"/>
                <a:ea typeface="Calibri" pitchFamily="34" charset="-122"/>
                <a:cs typeface="Calibri" pitchFamily="34" charset="-120"/>
              </a:rPr>
              <a:t>Field conditions</a:t>
            </a:r>
            <a:endParaRPr lang="en-US" sz="1800" dirty="0"/>
          </a:p>
        </p:txBody>
      </p:sp>
      <p:sp>
        <p:nvSpPr>
          <p:cNvPr id="33" name="Text 27"/>
          <p:cNvSpPr txBox="1"/>
          <p:nvPr/>
        </p:nvSpPr>
        <p:spPr>
          <a:xfrm>
            <a:off x="8915400" y="3886200"/>
            <a:ext cx="2514600" cy="1828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Camera placement, lighting, image quality and weather will all affect results.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Limitations and Challenges</a:t>
            </a:r>
            <a:endParaRPr lang="en-US" sz="3200" dirty="0"/>
          </a:p>
        </p:txBody>
      </p:sp>
      <p:sp>
        <p:nvSpPr>
          <p:cNvPr id="4" name="Shape 1"/>
          <p:cNvSpPr/>
          <p:nvPr/>
        </p:nvSpPr>
        <p:spPr>
          <a:xfrm>
            <a:off x="548640" y="1371600"/>
            <a:ext cx="5440680" cy="1005840"/>
          </a:xfrm>
          <a:prstGeom prst="roundRect">
            <a:avLst>
              <a:gd name="adj" fmla="val 7273"/>
            </a:avLst>
          </a:prstGeom>
          <a:solidFill>
            <a:srgbClr val="FCEBDD"/>
          </a:solidFill>
          <a:ln w="12700">
            <a:solidFill>
              <a:srgbClr val="FCEBDD"/>
            </a:solidFill>
            <a:prstDash val="solid"/>
          </a:ln>
        </p:spPr>
      </p:sp>
      <p:pic>
        <p:nvPicPr>
          <p:cNvPr id="5" name="Image 0" descr="Limitation">    </p:cNvPr>
          <p:cNvPicPr>
            <a:picLocks noChangeAspect="1"/>
          </p:cNvPicPr>
          <p:nvPr/>
        </p:nvPicPr>
        <p:blipFill>
          <a:blip r:embed="rId1"/>
          <a:stretch>
            <a:fillRect/>
          </a:stretch>
        </p:blipFill>
        <p:spPr>
          <a:xfrm>
            <a:off x="777240" y="1645920"/>
            <a:ext cx="457200" cy="457200"/>
          </a:xfrm>
          <a:prstGeom prst="rect">
            <a:avLst/>
          </a:prstGeom>
        </p:spPr>
      </p:pic>
      <p:sp>
        <p:nvSpPr>
          <p:cNvPr id="6" name="Text 2"/>
          <p:cNvSpPr txBox="1"/>
          <p:nvPr/>
        </p:nvSpPr>
        <p:spPr>
          <a:xfrm>
            <a:off x="1463040" y="1417320"/>
            <a:ext cx="4389120" cy="91440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PlantVillage images do not fully represent field conditions</a:t>
            </a:r>
            <a:endParaRPr lang="en-US" sz="1600" dirty="0"/>
          </a:p>
        </p:txBody>
      </p:sp>
      <p:sp>
        <p:nvSpPr>
          <p:cNvPr id="7" name="Shape 3"/>
          <p:cNvSpPr/>
          <p:nvPr/>
        </p:nvSpPr>
        <p:spPr>
          <a:xfrm>
            <a:off x="548640" y="2560320"/>
            <a:ext cx="5440680" cy="1005840"/>
          </a:xfrm>
          <a:prstGeom prst="roundRect">
            <a:avLst>
              <a:gd name="adj" fmla="val 7273"/>
            </a:avLst>
          </a:prstGeom>
          <a:solidFill>
            <a:srgbClr val="FCEBDD"/>
          </a:solidFill>
          <a:ln w="12700">
            <a:solidFill>
              <a:srgbClr val="FCEBDD"/>
            </a:solidFill>
            <a:prstDash val="solid"/>
          </a:ln>
        </p:spPr>
      </p:sp>
      <p:pic>
        <p:nvPicPr>
          <p:cNvPr id="8" name="Image 1" descr="Limitation">    </p:cNvPr>
          <p:cNvPicPr>
            <a:picLocks noChangeAspect="1"/>
          </p:cNvPicPr>
          <p:nvPr/>
        </p:nvPicPr>
        <p:blipFill>
          <a:blip r:embed="rId2"/>
          <a:stretch>
            <a:fillRect/>
          </a:stretch>
        </p:blipFill>
        <p:spPr>
          <a:xfrm>
            <a:off x="777240" y="2834640"/>
            <a:ext cx="457200" cy="457200"/>
          </a:xfrm>
          <a:prstGeom prst="rect">
            <a:avLst/>
          </a:prstGeom>
        </p:spPr>
      </p:pic>
      <p:sp>
        <p:nvSpPr>
          <p:cNvPr id="9" name="Text 4"/>
          <p:cNvSpPr txBox="1"/>
          <p:nvPr/>
        </p:nvSpPr>
        <p:spPr>
          <a:xfrm>
            <a:off x="1463040" y="2606040"/>
            <a:ext cx="4389120" cy="91440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Real-world accuracy has not yet been established</a:t>
            </a:r>
            <a:endParaRPr lang="en-US" sz="1600" dirty="0"/>
          </a:p>
        </p:txBody>
      </p:sp>
      <p:sp>
        <p:nvSpPr>
          <p:cNvPr id="10" name="Shape 5"/>
          <p:cNvSpPr/>
          <p:nvPr/>
        </p:nvSpPr>
        <p:spPr>
          <a:xfrm>
            <a:off x="548640" y="3749040"/>
            <a:ext cx="5440680" cy="1005840"/>
          </a:xfrm>
          <a:prstGeom prst="roundRect">
            <a:avLst>
              <a:gd name="adj" fmla="val 7273"/>
            </a:avLst>
          </a:prstGeom>
          <a:solidFill>
            <a:srgbClr val="FCEBDD"/>
          </a:solidFill>
          <a:ln w="12700">
            <a:solidFill>
              <a:srgbClr val="FCEBDD"/>
            </a:solidFill>
            <a:prstDash val="solid"/>
          </a:ln>
        </p:spPr>
      </p:sp>
      <p:pic>
        <p:nvPicPr>
          <p:cNvPr id="11" name="Image 2" descr="Limitation">    </p:cNvPr>
          <p:cNvPicPr>
            <a:picLocks noChangeAspect="1"/>
          </p:cNvPicPr>
          <p:nvPr/>
        </p:nvPicPr>
        <p:blipFill>
          <a:blip r:embed="rId3"/>
          <a:stretch>
            <a:fillRect/>
          </a:stretch>
        </p:blipFill>
        <p:spPr>
          <a:xfrm>
            <a:off x="777240" y="4023360"/>
            <a:ext cx="457200" cy="457200"/>
          </a:xfrm>
          <a:prstGeom prst="rect">
            <a:avLst/>
          </a:prstGeom>
        </p:spPr>
      </p:pic>
      <p:sp>
        <p:nvSpPr>
          <p:cNvPr id="12" name="Text 6"/>
          <p:cNvSpPr txBox="1"/>
          <p:nvPr/>
        </p:nvSpPr>
        <p:spPr>
          <a:xfrm>
            <a:off x="1463040" y="3794760"/>
            <a:ext cx="4389120" cy="91440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Only three tomato classes are supported</a:t>
            </a:r>
            <a:endParaRPr lang="en-US" sz="1600" dirty="0"/>
          </a:p>
        </p:txBody>
      </p:sp>
      <p:sp>
        <p:nvSpPr>
          <p:cNvPr id="13" name="Shape 7"/>
          <p:cNvSpPr/>
          <p:nvPr/>
        </p:nvSpPr>
        <p:spPr>
          <a:xfrm>
            <a:off x="548640" y="4937760"/>
            <a:ext cx="5440680" cy="1005840"/>
          </a:xfrm>
          <a:prstGeom prst="roundRect">
            <a:avLst>
              <a:gd name="adj" fmla="val 7273"/>
            </a:avLst>
          </a:prstGeom>
          <a:solidFill>
            <a:srgbClr val="F4F8F5"/>
          </a:solidFill>
          <a:ln w="12700">
            <a:solidFill>
              <a:srgbClr val="F4F8F5"/>
            </a:solidFill>
            <a:prstDash val="solid"/>
          </a:ln>
        </p:spPr>
      </p:sp>
      <p:pic>
        <p:nvPicPr>
          <p:cNvPr id="14" name="Image 3" descr="Limitation">    </p:cNvPr>
          <p:cNvPicPr>
            <a:picLocks noChangeAspect="1"/>
          </p:cNvPicPr>
          <p:nvPr/>
        </p:nvPicPr>
        <p:blipFill>
          <a:blip r:embed="rId4"/>
          <a:stretch>
            <a:fillRect/>
          </a:stretch>
        </p:blipFill>
        <p:spPr>
          <a:xfrm>
            <a:off x="777240" y="5212080"/>
            <a:ext cx="457200" cy="457200"/>
          </a:xfrm>
          <a:prstGeom prst="rect">
            <a:avLst/>
          </a:prstGeom>
        </p:spPr>
      </p:pic>
      <p:sp>
        <p:nvSpPr>
          <p:cNvPr id="15" name="Text 8"/>
          <p:cNvSpPr txBox="1"/>
          <p:nvPr/>
        </p:nvSpPr>
        <p:spPr>
          <a:xfrm>
            <a:off x="1463040" y="4983480"/>
            <a:ext cx="4389120" cy="91440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Confidence scores are not guarantees of correctness</a:t>
            </a:r>
            <a:endParaRPr lang="en-US" sz="1600" dirty="0"/>
          </a:p>
        </p:txBody>
      </p:sp>
      <p:sp>
        <p:nvSpPr>
          <p:cNvPr id="16" name="Shape 9"/>
          <p:cNvSpPr/>
          <p:nvPr/>
        </p:nvSpPr>
        <p:spPr>
          <a:xfrm>
            <a:off x="6172200" y="1371600"/>
            <a:ext cx="5440680" cy="1005840"/>
          </a:xfrm>
          <a:prstGeom prst="roundRect">
            <a:avLst>
              <a:gd name="adj" fmla="val 7273"/>
            </a:avLst>
          </a:prstGeom>
          <a:solidFill>
            <a:srgbClr val="F4F8F5"/>
          </a:solidFill>
          <a:ln w="12700">
            <a:solidFill>
              <a:srgbClr val="F4F8F5"/>
            </a:solidFill>
            <a:prstDash val="solid"/>
          </a:ln>
        </p:spPr>
      </p:sp>
      <p:pic>
        <p:nvPicPr>
          <p:cNvPr id="17" name="Image 4" descr="Limitation">    </p:cNvPr>
          <p:cNvPicPr>
            <a:picLocks noChangeAspect="1"/>
          </p:cNvPicPr>
          <p:nvPr/>
        </p:nvPicPr>
        <p:blipFill>
          <a:blip r:embed="rId5"/>
          <a:stretch>
            <a:fillRect/>
          </a:stretch>
        </p:blipFill>
        <p:spPr>
          <a:xfrm>
            <a:off x="6400800" y="1645920"/>
            <a:ext cx="457200" cy="457200"/>
          </a:xfrm>
          <a:prstGeom prst="rect">
            <a:avLst/>
          </a:prstGeom>
        </p:spPr>
      </p:pic>
      <p:sp>
        <p:nvSpPr>
          <p:cNvPr id="18" name="Text 10"/>
          <p:cNvSpPr txBox="1"/>
          <p:nvPr/>
        </p:nvSpPr>
        <p:spPr>
          <a:xfrm>
            <a:off x="7086600" y="1417320"/>
            <a:ext cx="4389120" cy="91440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CPU benchmark covered 102 selected test images</a:t>
            </a:r>
            <a:endParaRPr lang="en-US" sz="1600" dirty="0"/>
          </a:p>
        </p:txBody>
      </p:sp>
      <p:sp>
        <p:nvSpPr>
          <p:cNvPr id="19" name="Shape 11"/>
          <p:cNvSpPr/>
          <p:nvPr/>
        </p:nvSpPr>
        <p:spPr>
          <a:xfrm>
            <a:off x="6172200" y="2560320"/>
            <a:ext cx="5440680" cy="1005840"/>
          </a:xfrm>
          <a:prstGeom prst="roundRect">
            <a:avLst>
              <a:gd name="adj" fmla="val 7273"/>
            </a:avLst>
          </a:prstGeom>
          <a:solidFill>
            <a:srgbClr val="F4F8F5"/>
          </a:solidFill>
          <a:ln w="12700">
            <a:solidFill>
              <a:srgbClr val="F4F8F5"/>
            </a:solidFill>
            <a:prstDash val="solid"/>
          </a:ln>
        </p:spPr>
      </p:sp>
      <p:pic>
        <p:nvPicPr>
          <p:cNvPr id="20" name="Image 5" descr="Limitation">    </p:cNvPr>
          <p:cNvPicPr>
            <a:picLocks noChangeAspect="1"/>
          </p:cNvPicPr>
          <p:nvPr/>
        </p:nvPicPr>
        <p:blipFill>
          <a:blip r:embed="rId6"/>
          <a:stretch>
            <a:fillRect/>
          </a:stretch>
        </p:blipFill>
        <p:spPr>
          <a:xfrm>
            <a:off x="6400800" y="2834640"/>
            <a:ext cx="457200" cy="457200"/>
          </a:xfrm>
          <a:prstGeom prst="rect">
            <a:avLst/>
          </a:prstGeom>
        </p:spPr>
      </p:pic>
      <p:sp>
        <p:nvSpPr>
          <p:cNvPr id="21" name="Text 12"/>
          <p:cNvSpPr txBox="1"/>
          <p:nvPr/>
        </p:nvSpPr>
        <p:spPr>
          <a:xfrm>
            <a:off x="7086600" y="2606040"/>
            <a:ext cx="4389120" cy="91440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Power consumption and long-duration field performance were not measured</a:t>
            </a:r>
            <a:endParaRPr lang="en-US" sz="1600" dirty="0"/>
          </a:p>
        </p:txBody>
      </p:sp>
      <p:sp>
        <p:nvSpPr>
          <p:cNvPr id="22" name="Shape 13"/>
          <p:cNvSpPr/>
          <p:nvPr/>
        </p:nvSpPr>
        <p:spPr>
          <a:xfrm>
            <a:off x="6172200" y="3749040"/>
            <a:ext cx="5440680" cy="1005840"/>
          </a:xfrm>
          <a:prstGeom prst="roundRect">
            <a:avLst>
              <a:gd name="adj" fmla="val 7273"/>
            </a:avLst>
          </a:prstGeom>
          <a:solidFill>
            <a:srgbClr val="F4F8F5"/>
          </a:solidFill>
          <a:ln w="12700">
            <a:solidFill>
              <a:srgbClr val="F4F8F5"/>
            </a:solidFill>
            <a:prstDash val="solid"/>
          </a:ln>
        </p:spPr>
      </p:sp>
      <p:pic>
        <p:nvPicPr>
          <p:cNvPr id="23" name="Image 6" descr="Limitation">    </p:cNvPr>
          <p:cNvPicPr>
            <a:picLocks noChangeAspect="1"/>
          </p:cNvPicPr>
          <p:nvPr/>
        </p:nvPicPr>
        <p:blipFill>
          <a:blip r:embed="rId7"/>
          <a:stretch>
            <a:fillRect/>
          </a:stretch>
        </p:blipFill>
        <p:spPr>
          <a:xfrm>
            <a:off x="6400800" y="4023360"/>
            <a:ext cx="457200" cy="457200"/>
          </a:xfrm>
          <a:prstGeom prst="rect">
            <a:avLst/>
          </a:prstGeom>
        </p:spPr>
      </p:pic>
      <p:sp>
        <p:nvSpPr>
          <p:cNvPr id="24" name="Text 14"/>
          <p:cNvSpPr txBox="1"/>
          <p:nvPr/>
        </p:nvSpPr>
        <p:spPr>
          <a:xfrm>
            <a:off x="7086600" y="3794760"/>
            <a:ext cx="4389120" cy="91440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OpenVINO conversion showed Python 3.14 warnings (conversion still completed)</a:t>
            </a:r>
            <a:endParaRPr lang="en-US" sz="1600" dirty="0"/>
          </a:p>
        </p:txBody>
      </p:sp>
      <p:sp>
        <p:nvSpPr>
          <p:cNvPr id="25" name="Shape 15"/>
          <p:cNvSpPr/>
          <p:nvPr/>
        </p:nvSpPr>
        <p:spPr>
          <a:xfrm>
            <a:off x="6172200" y="4937760"/>
            <a:ext cx="5440680" cy="1005840"/>
          </a:xfrm>
          <a:prstGeom prst="roundRect">
            <a:avLst>
              <a:gd name="adj" fmla="val 7273"/>
            </a:avLst>
          </a:prstGeom>
          <a:solidFill>
            <a:srgbClr val="E4EBF5"/>
          </a:solidFill>
          <a:ln w="12700">
            <a:solidFill>
              <a:srgbClr val="E4EBF5"/>
            </a:solidFill>
            <a:prstDash val="solid"/>
          </a:ln>
        </p:spPr>
      </p:sp>
      <p:sp>
        <p:nvSpPr>
          <p:cNvPr id="26" name="Text 16"/>
          <p:cNvSpPr txBox="1"/>
          <p:nvPr/>
        </p:nvSpPr>
        <p:spPr>
          <a:xfrm>
            <a:off x="6400800" y="4937760"/>
            <a:ext cx="5029200" cy="1005840"/>
          </a:xfrm>
          <a:prstGeom prst="rect">
            <a:avLst/>
          </a:prstGeom>
          <a:noFill/>
          <a:ln/>
        </p:spPr>
        <p:txBody>
          <a:bodyPr wrap="square" lIns="0" tIns="0" rIns="0" bIns="0" rtlCol="0" anchor="ctr"/>
          <a:lstStyle/>
          <a:p>
            <a:pPr indent="0" marL="0">
              <a:buNone/>
            </a:pPr>
            <a:r>
              <a:rPr lang="en-US" sz="1600" b="1" dirty="0">
                <a:solidFill>
                  <a:srgbClr val="14325C"/>
                </a:solidFill>
                <a:latin typeface="Calibri" pitchFamily="34" charset="0"/>
                <a:ea typeface="Calibri" pitchFamily="34" charset="-122"/>
                <a:cs typeface="Calibri" pitchFamily="34" charset="-120"/>
              </a:rPr>
              <a:t>Not field-validated; further testing is required before any production use.</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B5E3A"/>
                </a:solidFill>
                <a:latin typeface="Cambria" pitchFamily="34" charset="0"/>
                <a:ea typeface="Cambria" pitchFamily="34" charset="-122"/>
                <a:cs typeface="Cambria" pitchFamily="34" charset="-120"/>
              </a:rPr>
              <a:t>Conclusion and Future Work</a:t>
            </a:r>
            <a:endParaRPr lang="en-US" sz="3200" dirty="0"/>
          </a:p>
        </p:txBody>
      </p:sp>
      <p:sp>
        <p:nvSpPr>
          <p:cNvPr id="4" name="Shape 1"/>
          <p:cNvSpPr/>
          <p:nvPr/>
        </p:nvSpPr>
        <p:spPr>
          <a:xfrm>
            <a:off x="548640" y="1371600"/>
            <a:ext cx="5440680" cy="4800600"/>
          </a:xfrm>
          <a:prstGeom prst="roundRect">
            <a:avLst>
              <a:gd name="adj" fmla="val 1524"/>
            </a:avLst>
          </a:prstGeom>
          <a:solidFill>
            <a:srgbClr val="E3F0E7"/>
          </a:solidFill>
          <a:ln w="12700">
            <a:solidFill>
              <a:srgbClr val="E3F0E7"/>
            </a:solidFill>
            <a:prstDash val="solid"/>
          </a:ln>
        </p:spPr>
      </p:sp>
      <p:sp>
        <p:nvSpPr>
          <p:cNvPr id="5" name="Text 2"/>
          <p:cNvSpPr txBox="1"/>
          <p:nvPr/>
        </p:nvSpPr>
        <p:spPr>
          <a:xfrm>
            <a:off x="777240" y="1508760"/>
            <a:ext cx="4937760" cy="365760"/>
          </a:xfrm>
          <a:prstGeom prst="rect">
            <a:avLst/>
          </a:prstGeom>
          <a:noFill/>
          <a:ln/>
        </p:spPr>
        <p:txBody>
          <a:bodyPr wrap="square" lIns="0" tIns="0" rIns="0" bIns="0" rtlCol="0" anchor="t"/>
          <a:lstStyle/>
          <a:p>
            <a:pPr indent="0" marL="0">
              <a:buNone/>
            </a:pPr>
            <a:r>
              <a:rPr lang="en-US" sz="2000" b="1" dirty="0">
                <a:solidFill>
                  <a:srgbClr val="1B5E3A"/>
                </a:solidFill>
                <a:latin typeface="Calibri" pitchFamily="34" charset="0"/>
                <a:ea typeface="Calibri" pitchFamily="34" charset="-122"/>
                <a:cs typeface="Calibri" pitchFamily="34" charset="-120"/>
              </a:rPr>
              <a:t>Achievements</a:t>
            </a:r>
            <a:endParaRPr lang="en-US" sz="2000" dirty="0"/>
          </a:p>
        </p:txBody>
      </p:sp>
      <p:sp>
        <p:nvSpPr>
          <p:cNvPr id="6" name="Text 3"/>
          <p:cNvSpPr txBox="1"/>
          <p:nvPr/>
        </p:nvSpPr>
        <p:spPr>
          <a:xfrm>
            <a:off x="777240" y="2057400"/>
            <a:ext cx="4937760" cy="40233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Trained a MobileNetV3-Small tomato leaf classifier</a:t>
            </a:r>
            <a:endParaRPr lang="en-US" sz="1800" dirty="0"/>
          </a:p>
          <a:p>
            <a:pPr marL="342900" indent="-3429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PyTorch test accuracy: 98.68%</a:t>
            </a:r>
            <a:endParaRPr lang="en-US" sz="1800" dirty="0"/>
          </a:p>
          <a:p>
            <a:pPr marL="342900" indent="-3429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Converted the model to OpenVINO IR</a:t>
            </a:r>
            <a:endParaRPr lang="en-US" sz="1800" dirty="0"/>
          </a:p>
          <a:p>
            <a:pPr marL="342900" indent="-3429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OpenVINO test accuracy: 98.46%</a:t>
            </a:r>
            <a:endParaRPr lang="en-US" sz="1800" dirty="0"/>
          </a:p>
          <a:p>
            <a:pPr marL="342900" indent="-3429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2.67× average-latency ratio (102-image CPU benchmark)</a:t>
            </a:r>
            <a:endParaRPr lang="en-US" sz="1800" dirty="0"/>
          </a:p>
          <a:p>
            <a:pPr marL="342900" indent="-342900">
              <a:spcAft>
                <a:spcPts val="1200"/>
              </a:spcAft>
              <a:buSzPct val="100000"/>
              <a:buChar char="•"/>
            </a:pPr>
            <a:r>
              <a:rPr lang="en-US" sz="1800" dirty="0">
                <a:solidFill>
                  <a:srgbClr val="1F2933"/>
                </a:solidFill>
                <a:latin typeface="Calibri" pitchFamily="34" charset="0"/>
                <a:ea typeface="Calibri" pitchFamily="34" charset="-122"/>
                <a:cs typeface="Calibri" pitchFamily="34" charset="-120"/>
              </a:rPr>
              <a:t>Implemented an interactive Streamlit interface</a:t>
            </a:r>
            <a:endParaRPr lang="en-US" sz="1800" dirty="0"/>
          </a:p>
        </p:txBody>
      </p:sp>
      <p:sp>
        <p:nvSpPr>
          <p:cNvPr id="7" name="Shape 4"/>
          <p:cNvSpPr/>
          <p:nvPr/>
        </p:nvSpPr>
        <p:spPr>
          <a:xfrm>
            <a:off x="6172200" y="1371600"/>
            <a:ext cx="5440680" cy="4800600"/>
          </a:xfrm>
          <a:prstGeom prst="roundRect">
            <a:avLst>
              <a:gd name="adj" fmla="val 1524"/>
            </a:avLst>
          </a:prstGeom>
          <a:solidFill>
            <a:srgbClr val="E4EBF5"/>
          </a:solidFill>
          <a:ln w="12700">
            <a:solidFill>
              <a:srgbClr val="E4EBF5"/>
            </a:solidFill>
            <a:prstDash val="solid"/>
          </a:ln>
        </p:spPr>
      </p:sp>
      <p:sp>
        <p:nvSpPr>
          <p:cNvPr id="8" name="Text 5"/>
          <p:cNvSpPr txBox="1"/>
          <p:nvPr/>
        </p:nvSpPr>
        <p:spPr>
          <a:xfrm>
            <a:off x="6400800" y="1508760"/>
            <a:ext cx="4937760" cy="365760"/>
          </a:xfrm>
          <a:prstGeom prst="rect">
            <a:avLst/>
          </a:prstGeom>
          <a:noFill/>
          <a:ln/>
        </p:spPr>
        <p:txBody>
          <a:bodyPr wrap="square" lIns="0" tIns="0" rIns="0" bIns="0" rtlCol="0" anchor="t"/>
          <a:lstStyle/>
          <a:p>
            <a:pPr indent="0" marL="0">
              <a:buNone/>
            </a:pPr>
            <a:r>
              <a:rPr lang="en-US" sz="2000" b="1" dirty="0">
                <a:solidFill>
                  <a:srgbClr val="14325C"/>
                </a:solidFill>
                <a:latin typeface="Calibri" pitchFamily="34" charset="0"/>
                <a:ea typeface="Calibri" pitchFamily="34" charset="-122"/>
                <a:cs typeface="Calibri" pitchFamily="34" charset="-120"/>
              </a:rPr>
              <a:t>Future work</a:t>
            </a:r>
            <a:endParaRPr lang="en-US" sz="2000" dirty="0"/>
          </a:p>
        </p:txBody>
      </p:sp>
      <p:sp>
        <p:nvSpPr>
          <p:cNvPr id="9" name="Text 6"/>
          <p:cNvSpPr txBox="1"/>
          <p:nvPr/>
        </p:nvSpPr>
        <p:spPr>
          <a:xfrm>
            <a:off x="6400800" y="2057400"/>
            <a:ext cx="4937760" cy="40233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Test on real field images</a:t>
            </a:r>
            <a:endParaRPr lang="en-US" sz="1800" dirty="0"/>
          </a:p>
          <a:p>
            <a:pPr marL="342900" indent="-3429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Collect images in varied light and environments</a:t>
            </a:r>
            <a:endParaRPr lang="en-US" sz="1800" dirty="0"/>
          </a:p>
          <a:p>
            <a:pPr marL="342900" indent="-3429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Evaluate on a physical edge device</a:t>
            </a:r>
            <a:endParaRPr lang="en-US" sz="1800" dirty="0"/>
          </a:p>
          <a:p>
            <a:pPr marL="342900" indent="-3429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Measure power consumption and memory usage</a:t>
            </a:r>
            <a:endParaRPr lang="en-US" sz="1800" dirty="0"/>
          </a:p>
          <a:p>
            <a:pPr marL="342900" indent="-3429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Expand supported crop diseases</a:t>
            </a:r>
            <a:endParaRPr lang="en-US" sz="1800" dirty="0"/>
          </a:p>
          <a:p>
            <a:pPr marL="342900" indent="-3429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Add confidence thresholds and human expert review</a:t>
            </a:r>
            <a:endParaRPr lang="en-US" sz="1800" dirty="0"/>
          </a:p>
          <a:p>
            <a:pPr marL="342900" indent="-342900">
              <a:spcAft>
                <a:spcPts val="1000"/>
              </a:spcAft>
              <a:buSzPct val="100000"/>
              <a:buChar char="•"/>
            </a:pPr>
            <a:r>
              <a:rPr lang="en-US" sz="1800" dirty="0">
                <a:solidFill>
                  <a:srgbClr val="1F2933"/>
                </a:solidFill>
                <a:latin typeface="Calibri" pitchFamily="34" charset="0"/>
                <a:ea typeface="Calibri" pitchFamily="34" charset="-122"/>
                <a:cs typeface="Calibri" pitchFamily="34" charset="-120"/>
              </a:rPr>
              <a:t>Test integration with a real edge camera</a:t>
            </a:r>
            <a:endParaRPr lang="en-US" sz="18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640080" y="41148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640080" y="1188720"/>
            <a:ext cx="10881360" cy="3840480"/>
          </a:xfrm>
          <a:prstGeom prst="rect">
            <a:avLst/>
          </a:prstGeom>
          <a:noFill/>
          <a:ln/>
        </p:spPr>
        <p:txBody>
          <a:bodyPr wrap="square" lIns="0" tIns="0" rIns="0" bIns="0" rtlCol="0" anchor="t"/>
          <a:lstStyle/>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[3] Hughes and Salathé, “An open access repository of images on plant health…,” arXiv:1511.08060, 2015.</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[4] Mohanty, Hughes, Salathé, “Using deep learning for image-based plant disease detection,” Front. Plant Sci., vol. 7, 2016.</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[9] Howard et al., “Searching for MobileNetV3,” ICCV, 2019, pp. 1314–1324.</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[10] Pan and Yang, “A survey on transfer learning,” IEEE TKDE, vol. 22, no. 10, 2010.</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[13] Paszke et al., “PyTorch,” NeurIPS 32, 2019, pp. 8024–8035.</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[18] geraldmc/plantvillage-full, Hugging Face dataset, v0.1.0. [Verify availability, licence, revision]</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[12] OpenVINO Documentation, Intel: docs.openvino.ai [insert access date]</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[16] Streamlit Documentation: docs.streamlit.io [insert access date]</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[15] torchvision MobileNet V3 documentation [insert access date]</a:t>
            </a:r>
            <a:endParaRPr lang="en-US" sz="1400" dirty="0"/>
          </a:p>
          <a:p>
            <a:pPr indent="0" marL="0">
              <a:spcAft>
                <a:spcPts val="500"/>
              </a:spcAft>
              <a:buNone/>
            </a:pPr>
            <a:r>
              <a:rPr lang="en-US" sz="1400" dirty="0">
                <a:solidFill>
                  <a:srgbClr val="DCE8DF"/>
                </a:solidFill>
                <a:latin typeface="Calibri" pitchFamily="34" charset="0"/>
                <a:ea typeface="Calibri" pitchFamily="34" charset="-122"/>
                <a:cs typeface="Calibri" pitchFamily="34" charset="-120"/>
              </a:rPr>
              <a:t>[5] Barbedo, Comput. Electron. Agric., vol. 153, 2018. [Verify volume, pages, DOI]</a:t>
            </a:r>
            <a:endParaRPr lang="en-US" sz="1400" dirty="0"/>
          </a:p>
        </p:txBody>
      </p:sp>
      <p:sp>
        <p:nvSpPr>
          <p:cNvPr id="5" name="Text 2"/>
          <p:cNvSpPr txBox="1"/>
          <p:nvPr/>
        </p:nvSpPr>
        <p:spPr>
          <a:xfrm>
            <a:off x="640080" y="5074920"/>
            <a:ext cx="10881360" cy="365760"/>
          </a:xfrm>
          <a:prstGeom prst="rect">
            <a:avLst/>
          </a:prstGeom>
          <a:noFill/>
          <a:ln/>
        </p:spPr>
        <p:txBody>
          <a:bodyPr wrap="square" lIns="0" tIns="0" rIns="0" bIns="0" rtlCol="0" anchor="t"/>
          <a:lstStyle/>
          <a:p>
            <a:pPr indent="0" marL="0">
              <a:buNone/>
            </a:pPr>
            <a:r>
              <a:rPr lang="en-US" sz="1200" i="1" dirty="0">
                <a:solidFill>
                  <a:srgbClr val="97BC62"/>
                </a:solidFill>
                <a:latin typeface="Calibri" pitchFamily="34" charset="0"/>
                <a:ea typeface="Calibri" pitchFamily="34" charset="-122"/>
                <a:cs typeface="Calibri" pitchFamily="34" charset="-120"/>
              </a:rPr>
              <a:t>Reference numbers follow the project report. Items marked in brackets must be verified before submission.</a:t>
            </a:r>
            <a:endParaRPr lang="en-US" sz="1200" dirty="0"/>
          </a:p>
        </p:txBody>
      </p:sp>
      <p:sp>
        <p:nvSpPr>
          <p:cNvPr id="6" name="Text 3"/>
          <p:cNvSpPr txBox="1"/>
          <p:nvPr/>
        </p:nvSpPr>
        <p:spPr>
          <a:xfrm>
            <a:off x="640080" y="5669280"/>
            <a:ext cx="10881360" cy="731520"/>
          </a:xfrm>
          <a:prstGeom prst="rect">
            <a:avLst/>
          </a:prstGeom>
          <a:noFill/>
          <a:ln/>
        </p:spPr>
        <p:txBody>
          <a:bodyPr wrap="square" lIns="0" tIns="0" rIns="0" bIns="0" rtlCol="0" anchor="ctr"/>
          <a:lstStyle/>
          <a:p>
            <a:pPr indent="0" marL="0">
              <a:buNone/>
            </a:pPr>
            <a:r>
              <a:rPr lang="en-US" sz="3000" b="1" dirty="0">
                <a:solidFill>
                  <a:srgbClr val="FFB703"/>
                </a:solidFill>
                <a:latin typeface="Cambria" pitchFamily="34" charset="0"/>
                <a:ea typeface="Cambria" pitchFamily="34" charset="-122"/>
                <a:cs typeface="Cambria" pitchFamily="34" charset="-120"/>
              </a:rPr>
              <a:t>Thank You: Questions and Discussion</a:t>
            </a:r>
            <a:endParaRPr lang="en-US" sz="3000" dirty="0"/>
          </a:p>
        </p:txBody>
      </p:sp>
    </p:spTree>
  </p:cSld>
  <p:clrMapOvr>
    <a:masterClrMapping/>
  </p:clrMapOvr>
</p:sld>
</file>

<file path=ppt/theme/theme1.xml><?xml version="1.0" encoding="utf-8"?>
<a:theme xmlns:a="http://schemas.openxmlformats.org/drawingml/2006/main" name="AgriEdge">
  <a:themeElements>
    <a:clrScheme name="AgriEdge">
      <a:dk1>
        <a:srgbClr val="1F2933"/>
      </a:dk1>
      <a:lt1>
        <a:srgbClr val="FFFFFF"/>
      </a:lt1>
      <a:dk2>
        <a:srgbClr val="14325C"/>
      </a:dk2>
      <a:lt2>
        <a:srgbClr val="F4F8F5"/>
      </a:lt2>
      <a:accent1>
        <a:srgbClr val="1B5E3A"/>
      </a:accent1>
      <a:accent2>
        <a:srgbClr val="14325C"/>
      </a:accent2>
      <a:accent3>
        <a:srgbClr val="C8591B"/>
      </a:accent3>
      <a:accent4>
        <a:srgbClr val="5B8C5A"/>
      </a:accent4>
      <a:accent5>
        <a:srgbClr val="3E6FB0"/>
      </a:accent5>
      <a:accent6>
        <a:srgbClr val="8A949C"/>
      </a:accent6>
      <a:hlink>
        <a:srgbClr val="14325C"/>
      </a:hlink>
      <a:folHlink>
        <a:srgbClr val="5B6770"/>
      </a:folHlink>
    </a:clrScheme>
    <a:fontScheme name="AgriEd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OpenVINO-Powered Smart Agriculture Solution</dc:title>
  <dc:subject>PptxGenJS Presentation</dc:subject>
  <dc:creator>K Karthik</dc:creator>
  <cp:lastModifiedBy>K Karthik</cp:lastModifiedBy>
  <cp:revision>1</cp:revision>
  <dcterms:created xsi:type="dcterms:W3CDTF">2026-10-25T12:51:51Z</dcterms:created>
  <dcterms:modified xsi:type="dcterms:W3CDTF">2026-10-25T12:51:51Z</dcterms:modified>
</cp:coreProperties>
</file>